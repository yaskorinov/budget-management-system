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9" r:id="rId9"/>
    <p:sldId id="260" r:id="rId10"/>
    <p:sldId id="267" r:id="rId17"/>
    <p:sldId id="265" r:id="rId15"/>
    <p:sldId id="262" r:id="rId12"/>
    <p:sldId id="263" r:id="rId13"/>
    <p:sldId id="268" r:id="rId18"/>
    <p:sldId id="269" r:id="rId19"/>
  </p:sldIdLst>
  <p:sldSz cx="18288000" cy="10287000"/>
  <p:notesSz cx="6858000" cy="9144000"/>
  <p:embeddedFontLst>
    <p:embeddedFont>
      <p:font typeface="Hagrid Medium" charset="1" panose="00000600000000000000"/>
      <p:regular r:id="rId20"/>
    </p:embeddedFont>
    <p:embeddedFont>
      <p:font typeface="DM Sans" charset="1" panose="00000000000000000000"/>
      <p:regular r:id="rId21"/>
    </p:embeddedFont>
    <p:embeddedFont>
      <p:font typeface="DM Sans Bold" charset="1" panose="00000000000000000000"/>
      <p:regular r:id="rId22"/>
    </p:embeddedFont>
    <p:embeddedFont>
      <p:font typeface="Hagrid"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8.jpe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2.jpeg"/><Relationship Id="rId7" Type="http://schemas.openxmlformats.org/officeDocument/2006/relationships/image" Target="../media/image13.png"/><Relationship Id="rId8"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4.jpeg"/><Relationship Id="rId7" Type="http://schemas.openxmlformats.org/officeDocument/2006/relationships/image" Target="../media/image15.png"/><Relationship Id="rId8"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7210396" y="0"/>
            <a:ext cx="9757858" cy="9757858"/>
          </a:xfrm>
          <a:custGeom>
            <a:avLst/>
            <a:gdLst/>
            <a:ahLst/>
            <a:cxnLst/>
            <a:rect r="r" b="b" t="t" l="l"/>
            <a:pathLst>
              <a:path h="9757858" w="9757858">
                <a:moveTo>
                  <a:pt x="0" y="0"/>
                </a:moveTo>
                <a:lnTo>
                  <a:pt x="9757858" y="0"/>
                </a:lnTo>
                <a:lnTo>
                  <a:pt x="9757858" y="9757858"/>
                </a:lnTo>
                <a:lnTo>
                  <a:pt x="0" y="9757858"/>
                </a:lnTo>
                <a:lnTo>
                  <a:pt x="0" y="0"/>
                </a:lnTo>
                <a:close/>
              </a:path>
            </a:pathLst>
          </a:custGeom>
          <a:blipFill>
            <a:blip r:embed="rId2">
              <a:alphaModFix amt="65000"/>
            </a:blip>
            <a:stretch>
              <a:fillRect l="0" t="0" r="0" b="0"/>
            </a:stretch>
          </a:blipFill>
        </p:spPr>
      </p:sp>
      <p:sp>
        <p:nvSpPr>
          <p:cNvPr name="Freeform 3" id="3"/>
          <p:cNvSpPr/>
          <p:nvPr/>
        </p:nvSpPr>
        <p:spPr>
          <a:xfrm flipH="false" flipV="false" rot="0">
            <a:off x="2165337" y="3308337"/>
            <a:ext cx="13957326" cy="13957326"/>
          </a:xfrm>
          <a:custGeom>
            <a:avLst/>
            <a:gdLst/>
            <a:ahLst/>
            <a:cxnLst/>
            <a:rect r="r" b="b" t="t" l="l"/>
            <a:pathLst>
              <a:path h="13957326" w="13957326">
                <a:moveTo>
                  <a:pt x="0" y="0"/>
                </a:moveTo>
                <a:lnTo>
                  <a:pt x="13957326" y="0"/>
                </a:lnTo>
                <a:lnTo>
                  <a:pt x="13957326" y="13957326"/>
                </a:lnTo>
                <a:lnTo>
                  <a:pt x="0" y="13957326"/>
                </a:lnTo>
                <a:lnTo>
                  <a:pt x="0" y="0"/>
                </a:lnTo>
                <a:close/>
              </a:path>
            </a:pathLst>
          </a:custGeom>
          <a:blipFill>
            <a:blip r:embed="rId3">
              <a:alphaModFix amt="65000"/>
            </a:blip>
            <a:stretch>
              <a:fillRect l="0" t="0" r="0" b="0"/>
            </a:stretch>
          </a:blipFill>
        </p:spPr>
      </p:sp>
      <p:sp>
        <p:nvSpPr>
          <p:cNvPr name="Freeform 4" id="4"/>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809146" y="-5134894"/>
            <a:ext cx="9757858" cy="9757858"/>
          </a:xfrm>
          <a:custGeom>
            <a:avLst/>
            <a:gdLst/>
            <a:ahLst/>
            <a:cxnLst/>
            <a:rect r="r" b="b" t="t" l="l"/>
            <a:pathLst>
              <a:path h="9757858" w="9757858">
                <a:moveTo>
                  <a:pt x="0" y="0"/>
                </a:moveTo>
                <a:lnTo>
                  <a:pt x="9757858" y="0"/>
                </a:lnTo>
                <a:lnTo>
                  <a:pt x="9757858" y="9757858"/>
                </a:lnTo>
                <a:lnTo>
                  <a:pt x="0" y="9757858"/>
                </a:lnTo>
                <a:lnTo>
                  <a:pt x="0" y="0"/>
                </a:lnTo>
                <a:close/>
              </a:path>
            </a:pathLst>
          </a:custGeom>
          <a:blipFill>
            <a:blip r:embed="rId2">
              <a:alphaModFix amt="65000"/>
            </a:blip>
            <a:stretch>
              <a:fillRect l="0" t="0" r="0" b="0"/>
            </a:stretch>
          </a:blipFill>
        </p:spPr>
      </p:sp>
      <p:grpSp>
        <p:nvGrpSpPr>
          <p:cNvPr name="Group 7" id="7"/>
          <p:cNvGrpSpPr/>
          <p:nvPr/>
        </p:nvGrpSpPr>
        <p:grpSpPr>
          <a:xfrm rot="0">
            <a:off x="934642" y="7278299"/>
            <a:ext cx="4131973" cy="1064047"/>
            <a:chOff x="0" y="0"/>
            <a:chExt cx="1088256" cy="280243"/>
          </a:xfrm>
        </p:grpSpPr>
        <p:sp>
          <p:nvSpPr>
            <p:cNvPr name="Freeform 8" id="8"/>
            <p:cNvSpPr/>
            <p:nvPr/>
          </p:nvSpPr>
          <p:spPr>
            <a:xfrm flipH="false" flipV="false" rot="0">
              <a:off x="0" y="0"/>
              <a:ext cx="1088256" cy="280243"/>
            </a:xfrm>
            <a:custGeom>
              <a:avLst/>
              <a:gdLst/>
              <a:ahLst/>
              <a:cxnLst/>
              <a:rect r="r" b="b" t="t" l="l"/>
              <a:pathLst>
                <a:path h="280243" w="1088256">
                  <a:moveTo>
                    <a:pt x="140121" y="0"/>
                  </a:moveTo>
                  <a:lnTo>
                    <a:pt x="948135" y="0"/>
                  </a:lnTo>
                  <a:cubicBezTo>
                    <a:pt x="1025522" y="0"/>
                    <a:pt x="1088256" y="62735"/>
                    <a:pt x="1088256" y="140121"/>
                  </a:cubicBezTo>
                  <a:lnTo>
                    <a:pt x="1088256" y="140121"/>
                  </a:lnTo>
                  <a:cubicBezTo>
                    <a:pt x="1088256" y="217508"/>
                    <a:pt x="1025522" y="280243"/>
                    <a:pt x="948135" y="280243"/>
                  </a:cubicBezTo>
                  <a:lnTo>
                    <a:pt x="140121" y="280243"/>
                  </a:lnTo>
                  <a:cubicBezTo>
                    <a:pt x="62735" y="280243"/>
                    <a:pt x="0" y="217508"/>
                    <a:pt x="0" y="140121"/>
                  </a:cubicBezTo>
                  <a:lnTo>
                    <a:pt x="0" y="140121"/>
                  </a:lnTo>
                  <a:cubicBezTo>
                    <a:pt x="0" y="62735"/>
                    <a:pt x="62735" y="0"/>
                    <a:pt x="140121"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rnd">
              <a:gradFill>
                <a:gsLst>
                  <a:gs pos="0">
                    <a:srgbClr val="FFFFF8">
                      <a:alpha val="100000"/>
                    </a:srgbClr>
                  </a:gs>
                  <a:gs pos="100000">
                    <a:srgbClr val="FFFFF8">
                      <a:alpha val="0"/>
                    </a:srgbClr>
                  </a:gs>
                </a:gsLst>
                <a:lin ang="2700000"/>
              </a:gradFill>
              <a:prstDash val="solid"/>
              <a:round/>
            </a:ln>
          </p:spPr>
        </p:sp>
        <p:sp>
          <p:nvSpPr>
            <p:cNvPr name="TextBox 9" id="9"/>
            <p:cNvSpPr txBox="true"/>
            <p:nvPr/>
          </p:nvSpPr>
          <p:spPr>
            <a:xfrm>
              <a:off x="0" y="-19050"/>
              <a:ext cx="1088256" cy="299293"/>
            </a:xfrm>
            <a:prstGeom prst="rect">
              <a:avLst/>
            </a:prstGeom>
          </p:spPr>
          <p:txBody>
            <a:bodyPr anchor="ctr" rtlCol="false" tIns="50800" lIns="50800" bIns="50800" rIns="50800"/>
            <a:lstStyle/>
            <a:p>
              <a:pPr algn="ctr">
                <a:lnSpc>
                  <a:spcPts val="2520"/>
                </a:lnSpc>
              </a:pPr>
            </a:p>
          </p:txBody>
        </p:sp>
      </p:grpSp>
      <p:sp>
        <p:nvSpPr>
          <p:cNvPr name="Freeform 15" id="15"/>
          <p:cNvSpPr/>
          <p:nvPr/>
        </p:nvSpPr>
        <p:spPr>
          <a:xfrm flipH="false" flipV="false" rot="0">
            <a:off x="5306949" y="2699707"/>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6"/>
            <a:stretch>
              <a:fillRect l="0" t="0" r="0" b="0"/>
            </a:stretch>
          </a:blipFill>
        </p:spPr>
      </p:sp>
      <p:sp>
        <p:nvSpPr>
          <p:cNvPr name="TextBox 16" id="16"/>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20" id="20"/>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AutoShape 21" id="21"/>
          <p:cNvSpPr/>
          <p:nvPr/>
        </p:nvSpPr>
        <p:spPr>
          <a:xfrm flipV="true">
            <a:off x="5066615" y="7090441"/>
            <a:ext cx="937723" cy="541395"/>
          </a:xfrm>
          <a:prstGeom prst="line">
            <a:avLst/>
          </a:prstGeom>
          <a:ln cap="flat" w="28575">
            <a:gradFill>
              <a:gsLst>
                <a:gs pos="0">
                  <a:srgbClr val="FFFFF8">
                    <a:alpha val="0"/>
                  </a:srgbClr>
                </a:gs>
                <a:gs pos="100000">
                  <a:srgbClr val="FFFFF8">
                    <a:alpha val="100000"/>
                  </a:srgbClr>
                </a:gs>
              </a:gsLst>
              <a:lin ang="2700000"/>
            </a:gradFill>
            <a:prstDash val="solid"/>
            <a:headEnd type="none" len="sm" w="sm"/>
            <a:tailEnd type="oval" len="lg" w="lg"/>
          </a:ln>
        </p:spPr>
      </p:sp>
      <p:sp>
        <p:nvSpPr>
          <p:cNvPr name="TextBox 6" id="6"/>
          <p:cNvSpPr txBox="true"/>
          <p:nvPr/>
        </p:nvSpPr>
        <p:spPr>
          <a:xfrm rot="0">
            <a:off x="231408" y="1371600"/>
            <a:ext cx="17180844" cy="1828800"/>
          </a:xfrm>
          <a:prstGeom prst="rect">
            <a:avLst/>
          </a:prstGeom>
        </p:spPr>
        <p:txBody>
          <a:bodyPr anchor="t" rtlCol="false" tIns="0" lIns="0" bIns="0" rIns="0">
            <a:spAutoFit/>
          </a:bodyPr>
          <a:lstStyle/>
          <a:p>
            <a:pPr algn="ctr">
              <a:lnSpc>
                <a:spcPts val="23621"/>
              </a:lnSpc>
            </a:pPr>
            <a:r>
              <a:rPr lang="en-US" b="true" sz="8800">
                <a:solidFill>
                  <a:srgbClr val="FFFFF8"/>
                </a:solidFill>
                <a:latin typeface="Hagrid Medium"/>
                <a:ea typeface="Hagrid Medium"/>
                <a:cs typeface="Hagrid Medium"/>
                <a:sym typeface="Hagrid Medium"/>
              </a:rPr>
              <a:t>ОБЩИЙ БЮДЖЕТ</a:t>
            </a:r>
          </a:p>
        </p:txBody>
      </p:sp>
      <p:sp>
        <p:nvSpPr>
          <p:cNvPr name="TextBox 13" id="13"/>
          <p:cNvSpPr txBox="true"/>
          <p:nvPr/>
        </p:nvSpPr>
        <p:spPr>
          <a:xfrm rot="0">
            <a:off x="1434781" y="7565848"/>
            <a:ext cx="6265404" cy="622300"/>
          </a:xfrm>
          <a:prstGeom prst="rect">
            <a:avLst/>
          </a:prstGeom>
        </p:spPr>
        <p:txBody>
          <a:bodyPr anchor="t" rtlCol="false" tIns="0" lIns="0" bIns="0" rIns="0">
            <a:spAutoFit/>
          </a:bodyPr>
          <a:lstStyle/>
          <a:p>
            <a:pPr algn="l">
              <a:lnSpc>
                <a:spcPts val="4549"/>
              </a:lnSpc>
            </a:pPr>
            <a:r>
              <a:rPr lang="en-US" sz="3400">
                <a:solidFill>
                  <a:srgbClr val="FFFFF8"/>
                </a:solidFill>
                <a:latin typeface="DM Sans"/>
                <a:ea typeface="DM Sans"/>
                <a:cs typeface="DM Sans"/>
                <a:sym typeface="DM Sans"/>
              </a:rPr>
              <a:t>AI-ассистент общих расходов</a:t>
            </a:r>
          </a:p>
        </p:txBody>
      </p:sp>
      <p:sp>
        <p:nvSpPr>
          <p:cNvPr name="TextBox 17" id="17"/>
          <p:cNvSpPr txBox="true"/>
          <p:nvPr/>
        </p:nvSpPr>
        <p:spPr>
          <a:xfrm rot="0">
            <a:off x="13962098" y="8729070"/>
            <a:ext cx="3450154" cy="281559"/>
          </a:xfrm>
          <a:prstGeom prst="rect">
            <a:avLst/>
          </a:prstGeom>
        </p:spPr>
        <p:txBody>
          <a:bodyPr anchor="t" rtlCol="false" tIns="0" lIns="0" bIns="0" rIns="0">
            <a:spAutoFit/>
          </a:bodyPr>
          <a:lstStyle/>
          <a:p>
            <a:pPr algn="r">
              <a:lnSpc>
                <a:spcPts val="2268"/>
              </a:lnSpc>
            </a:pPr>
            <a:r>
              <a:rPr lang="en-US" b="true" sz="1800" spc="-100">
                <a:solidFill>
                  <a:srgbClr val="FFFFF8"/>
                </a:solidFill>
                <a:latin typeface="DM Sans Bold"/>
                <a:ea typeface="DM Sans Bold"/>
                <a:cs typeface="DM Sans Bold"/>
                <a:sym typeface="DM Sans Bold"/>
              </a:rPr>
              <a:t>Кейс 2 · Сбер</a:t>
            </a:r>
          </a:p>
        </p:txBody>
      </p:sp>
      <p:sp>
        <p:nvSpPr>
          <p:cNvPr name="TextBox 18" id="18"/>
          <p:cNvSpPr txBox="true"/>
          <p:nvPr/>
        </p:nvSpPr>
        <p:spPr>
          <a:xfrm rot="0">
            <a:off x="13962098" y="9065163"/>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Хакатон ТОП ИИ</a:t>
            </a:r>
          </a:p>
        </p:txBody>
      </p:sp>
      <p:sp>
        <p:nvSpPr>
          <p:cNvPr name="TextBox 19" id="19"/>
          <p:cNvSpPr txBox="true"/>
          <p:nvPr/>
        </p:nvSpPr>
        <p:spPr>
          <a:xfrm rot="0">
            <a:off x="1028700" y="5508496"/>
            <a:ext cx="3450154" cy="318135"/>
          </a:xfrm>
          <a:prstGeom prst="rect">
            <a:avLst/>
          </a:prstGeom>
        </p:spPr>
        <p:txBody>
          <a:bodyPr anchor="t" rtlCol="false" tIns="0" lIns="0" bIns="0" rIns="0">
            <a:spAutoFit/>
          </a:bodyPr>
          <a:lstStyle/>
          <a:p>
            <a:pPr algn="l">
              <a:lnSpc>
                <a:spcPts val="2520"/>
              </a:lnSpc>
            </a:pPr>
            <a:r>
              <a:rPr lang="en-US" sz="2000" spc="-112">
                <a:solidFill>
                  <a:srgbClr val="FFFFF8"/>
                </a:solidFill>
                <a:latin typeface="Hagrid"/>
                <a:ea typeface="Hagrid"/>
                <a:cs typeface="Hagrid"/>
                <a:sym typeface="Hagrid"/>
              </a:rPr>
              <a:t>3 интерфейса · 1 сценарий</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270323" y="6523675"/>
            <a:ext cx="6540647" cy="6917992"/>
            <a:chOff x="0" y="0"/>
            <a:chExt cx="660400" cy="698500"/>
          </a:xfrm>
        </p:grpSpPr>
        <p:sp>
          <p:nvSpPr>
            <p:cNvPr name="Freeform 5" id="5"/>
            <p:cNvSpPr/>
            <p:nvPr/>
          </p:nvSpPr>
          <p:spPr>
            <a:xfrm flipH="false" flipV="false" rot="0">
              <a:off x="0" y="0"/>
              <a:ext cx="660400" cy="694690"/>
            </a:xfrm>
            <a:custGeom>
              <a:avLst/>
              <a:gdLst/>
              <a:ahLst/>
              <a:cxnLst/>
              <a:rect r="r" b="b" t="t" l="l"/>
              <a:pathLst>
                <a:path h="694690" w="660400">
                  <a:moveTo>
                    <a:pt x="330200" y="0"/>
                  </a:moveTo>
                  <a:lnTo>
                    <a:pt x="355600" y="267970"/>
                  </a:lnTo>
                  <a:lnTo>
                    <a:pt x="534670" y="66040"/>
                  </a:lnTo>
                  <a:lnTo>
                    <a:pt x="397510" y="298450"/>
                  </a:lnTo>
                  <a:lnTo>
                    <a:pt x="660400" y="240030"/>
                  </a:lnTo>
                  <a:lnTo>
                    <a:pt x="412750" y="346710"/>
                  </a:lnTo>
                  <a:lnTo>
                    <a:pt x="660400" y="454660"/>
                  </a:lnTo>
                  <a:lnTo>
                    <a:pt x="397510" y="396240"/>
                  </a:lnTo>
                  <a:lnTo>
                    <a:pt x="534670" y="628650"/>
                  </a:lnTo>
                  <a:lnTo>
                    <a:pt x="355600" y="425450"/>
                  </a:lnTo>
                  <a:lnTo>
                    <a:pt x="330200" y="694690"/>
                  </a:lnTo>
                  <a:lnTo>
                    <a:pt x="304800" y="425450"/>
                  </a:lnTo>
                  <a:lnTo>
                    <a:pt x="125730" y="628650"/>
                  </a:lnTo>
                  <a:lnTo>
                    <a:pt x="262890" y="396240"/>
                  </a:lnTo>
                  <a:lnTo>
                    <a:pt x="0" y="454660"/>
                  </a:lnTo>
                  <a:lnTo>
                    <a:pt x="247650" y="346710"/>
                  </a:lnTo>
                  <a:lnTo>
                    <a:pt x="0" y="240030"/>
                  </a:lnTo>
                  <a:lnTo>
                    <a:pt x="262890" y="298450"/>
                  </a:lnTo>
                  <a:lnTo>
                    <a:pt x="125730" y="66040"/>
                  </a:lnTo>
                  <a:lnTo>
                    <a:pt x="304800" y="267970"/>
                  </a:lnTo>
                  <a:close/>
                </a:path>
              </a:pathLst>
            </a:custGeom>
            <a:solidFill>
              <a:srgbClr val="5CFF63"/>
            </a:solidFill>
          </p:spPr>
        </p:sp>
        <p:sp>
          <p:nvSpPr>
            <p:cNvPr name="TextBox 6" id="6"/>
            <p:cNvSpPr txBox="true"/>
            <p:nvPr/>
          </p:nvSpPr>
          <p:spPr>
            <a:xfrm>
              <a:off x="241300" y="247650"/>
              <a:ext cx="165100" cy="171450"/>
            </a:xfrm>
            <a:prstGeom prst="rect">
              <a:avLst/>
            </a:prstGeom>
          </p:spPr>
          <p:txBody>
            <a:bodyPr anchor="ctr" rtlCol="false" tIns="50800" lIns="50800" bIns="50800" rIns="50800"/>
            <a:lstStyle/>
            <a:p>
              <a:pPr algn="ctr">
                <a:lnSpc>
                  <a:spcPts val="1679"/>
                </a:lnSpc>
                <a:spcBef>
                  <a:spcPct val="0"/>
                </a:spcBef>
              </a:pPr>
            </a:p>
          </p:txBody>
        </p:sp>
      </p:grpSp>
      <p:sp>
        <p:nvSpPr>
          <p:cNvPr name="Freeform 7" id="7"/>
          <p:cNvSpPr/>
          <p:nvPr/>
        </p:nvSpPr>
        <p:spPr>
          <a:xfrm flipH="false" flipV="false" rot="0">
            <a:off x="13809146" y="-5134894"/>
            <a:ext cx="9757858" cy="9757858"/>
          </a:xfrm>
          <a:custGeom>
            <a:avLst/>
            <a:gdLst/>
            <a:ahLst/>
            <a:cxnLst/>
            <a:rect r="r" b="b" t="t" l="l"/>
            <a:pathLst>
              <a:path h="9757858" w="9757858">
                <a:moveTo>
                  <a:pt x="0" y="0"/>
                </a:moveTo>
                <a:lnTo>
                  <a:pt x="9757858" y="0"/>
                </a:lnTo>
                <a:lnTo>
                  <a:pt x="9757858" y="9757858"/>
                </a:lnTo>
                <a:lnTo>
                  <a:pt x="0" y="9757858"/>
                </a:lnTo>
                <a:lnTo>
                  <a:pt x="0" y="0"/>
                </a:lnTo>
                <a:close/>
              </a:path>
            </a:pathLst>
          </a:custGeom>
          <a:blipFill>
            <a:blip r:embed="rId6">
              <a:alphaModFix amt="65000"/>
            </a:blip>
            <a:stretch>
              <a:fillRect l="0" t="0" r="0" b="0"/>
            </a:stretch>
          </a:blipFill>
        </p:spPr>
      </p:sp>
      <p:grpSp>
        <p:nvGrpSpPr>
          <p:cNvPr name="Group 8" id="8"/>
          <p:cNvGrpSpPr/>
          <p:nvPr/>
        </p:nvGrpSpPr>
        <p:grpSpPr>
          <a:xfrm rot="0">
            <a:off x="9678731" y="-521553"/>
            <a:ext cx="7197465" cy="10103842"/>
            <a:chOff x="0" y="0"/>
            <a:chExt cx="1895629" cy="2661094"/>
          </a:xfrm>
        </p:grpSpPr>
        <p:sp>
          <p:nvSpPr>
            <p:cNvPr name="Freeform 9" id="9"/>
            <p:cNvSpPr/>
            <p:nvPr/>
          </p:nvSpPr>
          <p:spPr>
            <a:xfrm flipH="false" flipV="false" rot="0">
              <a:off x="0" y="0"/>
              <a:ext cx="1895629" cy="2661094"/>
            </a:xfrm>
            <a:custGeom>
              <a:avLst/>
              <a:gdLst/>
              <a:ahLst/>
              <a:cxnLst/>
              <a:rect r="r" b="b" t="t" l="l"/>
              <a:pathLst>
                <a:path h="2661094" w="1895629">
                  <a:moveTo>
                    <a:pt x="25815" y="0"/>
                  </a:moveTo>
                  <a:lnTo>
                    <a:pt x="1869813" y="0"/>
                  </a:lnTo>
                  <a:cubicBezTo>
                    <a:pt x="1876660" y="0"/>
                    <a:pt x="1883226" y="2720"/>
                    <a:pt x="1888068" y="7561"/>
                  </a:cubicBezTo>
                  <a:cubicBezTo>
                    <a:pt x="1892909" y="12403"/>
                    <a:pt x="1895629" y="18969"/>
                    <a:pt x="1895629" y="25815"/>
                  </a:cubicBezTo>
                  <a:lnTo>
                    <a:pt x="1895629" y="2635279"/>
                  </a:lnTo>
                  <a:cubicBezTo>
                    <a:pt x="1895629" y="2649536"/>
                    <a:pt x="1884071" y="2661094"/>
                    <a:pt x="1869813" y="2661094"/>
                  </a:cubicBezTo>
                  <a:lnTo>
                    <a:pt x="25815" y="2661094"/>
                  </a:lnTo>
                  <a:cubicBezTo>
                    <a:pt x="18969" y="2661094"/>
                    <a:pt x="12403" y="2658375"/>
                    <a:pt x="7561" y="2653533"/>
                  </a:cubicBezTo>
                  <a:cubicBezTo>
                    <a:pt x="2720" y="2648692"/>
                    <a:pt x="0" y="2642126"/>
                    <a:pt x="0" y="2635279"/>
                  </a:cubicBezTo>
                  <a:lnTo>
                    <a:pt x="0" y="25815"/>
                  </a:lnTo>
                  <a:cubicBezTo>
                    <a:pt x="0" y="18969"/>
                    <a:pt x="2720" y="12403"/>
                    <a:pt x="7561" y="7561"/>
                  </a:cubicBezTo>
                  <a:cubicBezTo>
                    <a:pt x="12403" y="2720"/>
                    <a:pt x="18969" y="0"/>
                    <a:pt x="25815" y="0"/>
                  </a:cubicBezTo>
                  <a:close/>
                </a:path>
              </a:pathLst>
            </a:custGeom>
            <a:ln w="19050" cap="rnd">
              <a:gradFill>
                <a:gsLst>
                  <a:gs pos="0">
                    <a:srgbClr val="FFFFF8">
                      <a:alpha val="100000"/>
                    </a:srgbClr>
                  </a:gs>
                  <a:gs pos="100000">
                    <a:srgbClr val="FFFFF8">
                      <a:alpha val="0"/>
                    </a:srgbClr>
                  </a:gs>
                </a:gsLst>
                <a:lin ang="2700000"/>
              </a:gradFill>
              <a:prstDash val="solid"/>
              <a:round/>
            </a:ln>
          </p:spPr>
        </p:sp>
        <p:sp>
          <p:nvSpPr>
            <p:cNvPr name="TextBox 10" id="10"/>
            <p:cNvSpPr txBox="true"/>
            <p:nvPr/>
          </p:nvSpPr>
          <p:spPr>
            <a:xfrm>
              <a:off x="0" y="66675"/>
              <a:ext cx="1895629" cy="2594419"/>
            </a:xfrm>
            <a:prstGeom prst="rect">
              <a:avLst/>
            </a:prstGeom>
          </p:spPr>
          <p:txBody>
            <a:bodyPr anchor="ctr" rtlCol="false" tIns="50800" lIns="50800" bIns="50800" rIns="50800"/>
            <a:lstStyle/>
            <a:p>
              <a:pPr algn="ctr">
                <a:lnSpc>
                  <a:spcPts val="2350"/>
                </a:lnSpc>
              </a:pPr>
            </a:p>
          </p:txBody>
        </p:sp>
      </p:grpSp>
      <p:sp>
        <p:nvSpPr>
          <p:cNvPr name="TextBox 11" id="11"/>
          <p:cNvSpPr txBox="true"/>
          <p:nvPr/>
        </p:nvSpPr>
        <p:spPr>
          <a:xfrm rot="0">
            <a:off x="1028700" y="2523731"/>
            <a:ext cx="7628749" cy="3041161"/>
          </a:xfrm>
          <a:prstGeom prst="rect">
            <a:avLst/>
          </a:prstGeom>
        </p:spPr>
        <p:txBody>
          <a:bodyPr anchor="t" rtlCol="false" tIns="0" lIns="0" bIns="0" rIns="0">
            <a:spAutoFit/>
          </a:bodyPr>
          <a:lstStyle/>
          <a:p>
            <a:pPr algn="l">
              <a:lnSpc>
                <a:spcPts val="11464"/>
              </a:lnSpc>
            </a:pPr>
            <a:r>
              <a:rPr lang="en-US" b="true" sz="12196" spc="-573">
                <a:solidFill>
                  <a:srgbClr val="FFFFF8"/>
                </a:solidFill>
                <a:latin typeface="Hagrid Medium"/>
                <a:ea typeface="Hagrid Medium"/>
                <a:cs typeface="Hagrid Medium"/>
                <a:sym typeface="Hagrid Medium"/>
              </a:rPr>
              <a:t>Today’s Agenda</a:t>
            </a:r>
          </a:p>
        </p:txBody>
      </p:sp>
      <p:sp>
        <p:nvSpPr>
          <p:cNvPr name="TextBox 12" id="12"/>
          <p:cNvSpPr txBox="true"/>
          <p:nvPr/>
        </p:nvSpPr>
        <p:spPr>
          <a:xfrm rot="0">
            <a:off x="10214225" y="1332342"/>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01</a:t>
            </a:r>
          </a:p>
        </p:txBody>
      </p:sp>
      <p:sp>
        <p:nvSpPr>
          <p:cNvPr name="TextBox 13" id="13"/>
          <p:cNvSpPr txBox="true"/>
          <p:nvPr/>
        </p:nvSpPr>
        <p:spPr>
          <a:xfrm rot="0">
            <a:off x="10214225" y="2146136"/>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02</a:t>
            </a:r>
          </a:p>
        </p:txBody>
      </p:sp>
      <p:sp>
        <p:nvSpPr>
          <p:cNvPr name="TextBox 14" id="14"/>
          <p:cNvSpPr txBox="true"/>
          <p:nvPr/>
        </p:nvSpPr>
        <p:spPr>
          <a:xfrm rot="0">
            <a:off x="11409213" y="1332342"/>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Introduction</a:t>
            </a:r>
          </a:p>
        </p:txBody>
      </p:sp>
      <p:sp>
        <p:nvSpPr>
          <p:cNvPr name="TextBox 15" id="15"/>
          <p:cNvSpPr txBox="true"/>
          <p:nvPr/>
        </p:nvSpPr>
        <p:spPr>
          <a:xfrm rot="0">
            <a:off x="11409213" y="2146136"/>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Problem Statement</a:t>
            </a:r>
          </a:p>
        </p:txBody>
      </p:sp>
      <p:sp>
        <p:nvSpPr>
          <p:cNvPr name="TextBox 16" id="16"/>
          <p:cNvSpPr txBox="true"/>
          <p:nvPr/>
        </p:nvSpPr>
        <p:spPr>
          <a:xfrm rot="0">
            <a:off x="10214225" y="2959930"/>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03</a:t>
            </a:r>
          </a:p>
        </p:txBody>
      </p:sp>
      <p:sp>
        <p:nvSpPr>
          <p:cNvPr name="TextBox 17" id="17"/>
          <p:cNvSpPr txBox="true"/>
          <p:nvPr/>
        </p:nvSpPr>
        <p:spPr>
          <a:xfrm rot="0">
            <a:off x="11409213" y="2959930"/>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Our Innovative Solutions</a:t>
            </a:r>
          </a:p>
        </p:txBody>
      </p:sp>
      <p:sp>
        <p:nvSpPr>
          <p:cNvPr name="TextBox 18" id="18"/>
          <p:cNvSpPr txBox="true"/>
          <p:nvPr/>
        </p:nvSpPr>
        <p:spPr>
          <a:xfrm rot="0">
            <a:off x="10214225" y="3773724"/>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04</a:t>
            </a:r>
          </a:p>
        </p:txBody>
      </p:sp>
      <p:sp>
        <p:nvSpPr>
          <p:cNvPr name="TextBox 19" id="19"/>
          <p:cNvSpPr txBox="true"/>
          <p:nvPr/>
        </p:nvSpPr>
        <p:spPr>
          <a:xfrm rot="0">
            <a:off x="11409213" y="3773724"/>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Discover Our Services</a:t>
            </a:r>
          </a:p>
        </p:txBody>
      </p:sp>
      <p:sp>
        <p:nvSpPr>
          <p:cNvPr name="TextBox 20" id="20"/>
          <p:cNvSpPr txBox="true"/>
          <p:nvPr/>
        </p:nvSpPr>
        <p:spPr>
          <a:xfrm rot="0">
            <a:off x="10214225" y="4587518"/>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05</a:t>
            </a:r>
          </a:p>
        </p:txBody>
      </p:sp>
      <p:sp>
        <p:nvSpPr>
          <p:cNvPr name="TextBox 21" id="21"/>
          <p:cNvSpPr txBox="true"/>
          <p:nvPr/>
        </p:nvSpPr>
        <p:spPr>
          <a:xfrm rot="0">
            <a:off x="11409213" y="4587518"/>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Size of Market</a:t>
            </a:r>
          </a:p>
        </p:txBody>
      </p:sp>
      <p:sp>
        <p:nvSpPr>
          <p:cNvPr name="TextBox 22" id="22"/>
          <p:cNvSpPr txBox="true"/>
          <p:nvPr/>
        </p:nvSpPr>
        <p:spPr>
          <a:xfrm rot="0">
            <a:off x="10214225" y="5401313"/>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06</a:t>
            </a:r>
          </a:p>
        </p:txBody>
      </p:sp>
      <p:sp>
        <p:nvSpPr>
          <p:cNvPr name="TextBox 23" id="23"/>
          <p:cNvSpPr txBox="true"/>
          <p:nvPr/>
        </p:nvSpPr>
        <p:spPr>
          <a:xfrm rot="0">
            <a:off x="11409213" y="5401313"/>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Direct &amp; Indirect Competitor</a:t>
            </a:r>
          </a:p>
        </p:txBody>
      </p:sp>
      <p:sp>
        <p:nvSpPr>
          <p:cNvPr name="TextBox 24" id="24"/>
          <p:cNvSpPr txBox="true"/>
          <p:nvPr/>
        </p:nvSpPr>
        <p:spPr>
          <a:xfrm rot="0">
            <a:off x="10214225" y="6215107"/>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07</a:t>
            </a:r>
          </a:p>
        </p:txBody>
      </p:sp>
      <p:sp>
        <p:nvSpPr>
          <p:cNvPr name="TextBox 25" id="25"/>
          <p:cNvSpPr txBox="true"/>
          <p:nvPr/>
        </p:nvSpPr>
        <p:spPr>
          <a:xfrm rot="0">
            <a:off x="11409213" y="6215107"/>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Key Competitive Advantages</a:t>
            </a:r>
          </a:p>
        </p:txBody>
      </p:sp>
      <p:sp>
        <p:nvSpPr>
          <p:cNvPr name="TextBox 26" id="26"/>
          <p:cNvSpPr txBox="true"/>
          <p:nvPr/>
        </p:nvSpPr>
        <p:spPr>
          <a:xfrm rot="0">
            <a:off x="10214225" y="7028901"/>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08</a:t>
            </a:r>
          </a:p>
        </p:txBody>
      </p:sp>
      <p:sp>
        <p:nvSpPr>
          <p:cNvPr name="TextBox 27" id="27"/>
          <p:cNvSpPr txBox="true"/>
          <p:nvPr/>
        </p:nvSpPr>
        <p:spPr>
          <a:xfrm rot="0">
            <a:off x="11409213" y="7028901"/>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Traction</a:t>
            </a:r>
          </a:p>
        </p:txBody>
      </p:sp>
      <p:sp>
        <p:nvSpPr>
          <p:cNvPr name="TextBox 28" id="28"/>
          <p:cNvSpPr txBox="true"/>
          <p:nvPr/>
        </p:nvSpPr>
        <p:spPr>
          <a:xfrm rot="0">
            <a:off x="10214225" y="7842695"/>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09</a:t>
            </a:r>
          </a:p>
        </p:txBody>
      </p:sp>
      <p:sp>
        <p:nvSpPr>
          <p:cNvPr name="TextBox 29" id="29"/>
          <p:cNvSpPr txBox="true"/>
          <p:nvPr/>
        </p:nvSpPr>
        <p:spPr>
          <a:xfrm rot="0">
            <a:off x="11409213" y="7842695"/>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Accomplishments Date</a:t>
            </a:r>
          </a:p>
        </p:txBody>
      </p:sp>
      <p:sp>
        <p:nvSpPr>
          <p:cNvPr name="TextBox 30" id="30"/>
          <p:cNvSpPr txBox="true"/>
          <p:nvPr/>
        </p:nvSpPr>
        <p:spPr>
          <a:xfrm rot="0">
            <a:off x="10214225" y="8656490"/>
            <a:ext cx="930834" cy="320675"/>
          </a:xfrm>
          <a:prstGeom prst="rect">
            <a:avLst/>
          </a:prstGeom>
        </p:spPr>
        <p:txBody>
          <a:bodyPr anchor="t" rtlCol="false" tIns="0" lIns="0" bIns="0" rIns="0">
            <a:spAutoFit/>
          </a:bodyPr>
          <a:lstStyle/>
          <a:p>
            <a:pPr algn="ctr">
              <a:lnSpc>
                <a:spcPts val="2350"/>
              </a:lnSpc>
            </a:pPr>
            <a:r>
              <a:rPr lang="en-US" b="true" sz="2500" spc="-117">
                <a:solidFill>
                  <a:srgbClr val="FFFFF8"/>
                </a:solidFill>
                <a:latin typeface="DM Sans Bold"/>
                <a:ea typeface="DM Sans Bold"/>
                <a:cs typeface="DM Sans Bold"/>
                <a:sym typeface="DM Sans Bold"/>
              </a:rPr>
              <a:t>10</a:t>
            </a:r>
          </a:p>
        </p:txBody>
      </p:sp>
      <p:sp>
        <p:nvSpPr>
          <p:cNvPr name="TextBox 31" id="31"/>
          <p:cNvSpPr txBox="true"/>
          <p:nvPr/>
        </p:nvSpPr>
        <p:spPr>
          <a:xfrm rot="0">
            <a:off x="11409213" y="8656490"/>
            <a:ext cx="5466983" cy="320675"/>
          </a:xfrm>
          <a:prstGeom prst="rect">
            <a:avLst/>
          </a:prstGeom>
        </p:spPr>
        <p:txBody>
          <a:bodyPr anchor="t" rtlCol="false" tIns="0" lIns="0" bIns="0" rIns="0">
            <a:spAutoFit/>
          </a:bodyPr>
          <a:lstStyle/>
          <a:p>
            <a:pPr algn="l">
              <a:lnSpc>
                <a:spcPts val="2350"/>
              </a:lnSpc>
            </a:pPr>
            <a:r>
              <a:rPr lang="en-US" sz="2500" spc="-117">
                <a:solidFill>
                  <a:srgbClr val="FFFFF8"/>
                </a:solidFill>
                <a:latin typeface="DM Sans"/>
                <a:ea typeface="DM Sans"/>
                <a:cs typeface="DM Sans"/>
                <a:sym typeface="DM Sans"/>
              </a:rPr>
              <a:t>Use of Funds</a:t>
            </a:r>
          </a:p>
        </p:txBody>
      </p:sp>
      <p:sp>
        <p:nvSpPr>
          <p:cNvPr name="TextBox 32" id="32"/>
          <p:cNvSpPr txBox="true"/>
          <p:nvPr/>
        </p:nvSpPr>
        <p:spPr>
          <a:xfrm rot="0">
            <a:off x="1906760" y="650408"/>
            <a:ext cx="1720589" cy="587954"/>
          </a:xfrm>
          <a:prstGeom prst="rect">
            <a:avLst/>
          </a:prstGeom>
        </p:spPr>
        <p:txBody>
          <a:bodyPr anchor="t" rtlCol="false" tIns="0" lIns="0" bIns="0" rIns="0">
            <a:spAutoFit/>
          </a:bodyPr>
          <a:lstStyle/>
          <a:p>
            <a:pPr algn="l">
              <a:lnSpc>
                <a:spcPts val="4868"/>
              </a:lnSpc>
            </a:pPr>
            <a:r>
              <a:rPr lang="en-US" b="true" sz="3477" spc="-163">
                <a:solidFill>
                  <a:srgbClr val="FFFFF8"/>
                </a:solidFill>
                <a:latin typeface="DM Sans Bold"/>
                <a:ea typeface="DM Sans Bold"/>
                <a:cs typeface="DM Sans Bold"/>
                <a:sym typeface="DM Sans Bold"/>
              </a:rPr>
              <a:t>Salford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77529" y="7299012"/>
            <a:ext cx="9918691" cy="3358310"/>
            <a:chOff x="0" y="0"/>
            <a:chExt cx="3716749" cy="1258431"/>
          </a:xfrm>
        </p:grpSpPr>
        <p:sp>
          <p:nvSpPr>
            <p:cNvPr name="Freeform 4" id="4"/>
            <p:cNvSpPr/>
            <p:nvPr/>
          </p:nvSpPr>
          <p:spPr>
            <a:xfrm flipH="false" flipV="false" rot="0">
              <a:off x="0" y="0"/>
              <a:ext cx="3716750" cy="1258444"/>
            </a:xfrm>
            <a:custGeom>
              <a:avLst/>
              <a:gdLst/>
              <a:ahLst/>
              <a:cxnLst/>
              <a:rect r="r" b="b" t="t" l="l"/>
              <a:pathLst>
                <a:path h="1258444" w="3716750">
                  <a:moveTo>
                    <a:pt x="3229308" y="0"/>
                  </a:moveTo>
                  <a:lnTo>
                    <a:pt x="177673" y="0"/>
                  </a:lnTo>
                  <a:cubicBezTo>
                    <a:pt x="79547" y="0"/>
                    <a:pt x="0" y="79547"/>
                    <a:pt x="0" y="177673"/>
                  </a:cubicBezTo>
                  <a:lnTo>
                    <a:pt x="0" y="1080771"/>
                  </a:lnTo>
                  <a:cubicBezTo>
                    <a:pt x="0" y="1178897"/>
                    <a:pt x="79547" y="1258444"/>
                    <a:pt x="177673" y="1258444"/>
                  </a:cubicBezTo>
                  <a:lnTo>
                    <a:pt x="3539077" y="1258444"/>
                  </a:lnTo>
                  <a:cubicBezTo>
                    <a:pt x="3637203" y="1258444"/>
                    <a:pt x="3716750" y="1178897"/>
                    <a:pt x="3716750" y="1080771"/>
                  </a:cubicBezTo>
                  <a:lnTo>
                    <a:pt x="3716750" y="523958"/>
                  </a:lnTo>
                  <a:cubicBezTo>
                    <a:pt x="3716750" y="480251"/>
                    <a:pt x="3700640" y="438079"/>
                    <a:pt x="3671501" y="405503"/>
                  </a:cubicBezTo>
                  <a:lnTo>
                    <a:pt x="3361724" y="59214"/>
                  </a:lnTo>
                  <a:cubicBezTo>
                    <a:pt x="3328020" y="21536"/>
                    <a:pt x="3279861" y="0"/>
                    <a:pt x="3229308" y="0"/>
                  </a:cubicBezTo>
                  <a:close/>
                </a:path>
              </a:pathLst>
            </a:custGeom>
            <a:blipFill>
              <a:blip r:embed="rId4"/>
              <a:stretch>
                <a:fillRect l="0" t="-56248" r="0" b="-40827"/>
              </a:stretch>
            </a:blipFill>
          </p:spPr>
        </p:sp>
      </p:grpSp>
      <p:sp>
        <p:nvSpPr>
          <p:cNvPr name="Freeform 5" id="5"/>
          <p:cNvSpPr/>
          <p:nvPr/>
        </p:nvSpPr>
        <p:spPr>
          <a:xfrm flipH="false" flipV="false" rot="0">
            <a:off x="11961533" y="-4854552"/>
            <a:ext cx="11359122" cy="11359122"/>
          </a:xfrm>
          <a:custGeom>
            <a:avLst/>
            <a:gdLst/>
            <a:ahLst/>
            <a:cxnLst/>
            <a:rect r="r" b="b" t="t" l="l"/>
            <a:pathLst>
              <a:path h="11359122" w="11359122">
                <a:moveTo>
                  <a:pt x="0" y="0"/>
                </a:moveTo>
                <a:lnTo>
                  <a:pt x="11359122" y="0"/>
                </a:lnTo>
                <a:lnTo>
                  <a:pt x="11359122" y="11359123"/>
                </a:lnTo>
                <a:lnTo>
                  <a:pt x="0" y="11359123"/>
                </a:lnTo>
                <a:lnTo>
                  <a:pt x="0" y="0"/>
                </a:lnTo>
                <a:close/>
              </a:path>
            </a:pathLst>
          </a:custGeom>
          <a:blipFill>
            <a:blip r:embed="rId5">
              <a:alphaModFix amt="65000"/>
            </a:blip>
            <a:stretch>
              <a:fillRect l="0" t="0" r="0" b="0"/>
            </a:stretch>
          </a:blipFill>
        </p:spPr>
      </p:sp>
      <p:sp>
        <p:nvSpPr>
          <p:cNvPr name="TextBox 6" id="6"/>
          <p:cNvSpPr txBox="true"/>
          <p:nvPr/>
        </p:nvSpPr>
        <p:spPr>
          <a:xfrm rot="0">
            <a:off x="1028700" y="2239889"/>
            <a:ext cx="10156343" cy="1574311"/>
          </a:xfrm>
          <a:prstGeom prst="rect">
            <a:avLst/>
          </a:prstGeom>
        </p:spPr>
        <p:txBody>
          <a:bodyPr anchor="t" rtlCol="false" tIns="0" lIns="0" bIns="0" rIns="0">
            <a:spAutoFit/>
          </a:bodyPr>
          <a:lstStyle/>
          <a:p>
            <a:pPr algn="l">
              <a:lnSpc>
                <a:spcPts val="11464"/>
              </a:lnSpc>
            </a:pPr>
            <a:r>
              <a:rPr lang="en-US" sz="12196" spc="-573" b="true">
                <a:solidFill>
                  <a:srgbClr val="FFFFFF"/>
                </a:solidFill>
                <a:latin typeface="Hagrid Medium"/>
                <a:ea typeface="Hagrid Medium"/>
                <a:cs typeface="Hagrid Medium"/>
                <a:sym typeface="Hagrid Medium"/>
              </a:rPr>
              <a:t>Introduction</a:t>
            </a:r>
          </a:p>
        </p:txBody>
      </p:sp>
      <p:sp>
        <p:nvSpPr>
          <p:cNvPr name="TextBox 7" id="7"/>
          <p:cNvSpPr txBox="true"/>
          <p:nvPr/>
        </p:nvSpPr>
        <p:spPr>
          <a:xfrm rot="0">
            <a:off x="1028700" y="4465042"/>
            <a:ext cx="7545046" cy="1878330"/>
          </a:xfrm>
          <a:prstGeom prst="rect">
            <a:avLst/>
          </a:prstGeom>
        </p:spPr>
        <p:txBody>
          <a:bodyPr anchor="t" rtlCol="false" tIns="0" lIns="0" bIns="0" rIns="0">
            <a:spAutoFit/>
          </a:bodyPr>
          <a:lstStyle/>
          <a:p>
            <a:pPr algn="l">
              <a:lnSpc>
                <a:spcPts val="2520"/>
              </a:lnSpc>
            </a:pPr>
            <a:r>
              <a:rPr lang="en-US" sz="1800" spc="-84">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8" id="8"/>
          <p:cNvSpPr txBox="true"/>
          <p:nvPr/>
        </p:nvSpPr>
        <p:spPr>
          <a:xfrm rot="0">
            <a:off x="10709646" y="7065645"/>
            <a:ext cx="6549654" cy="2192655"/>
          </a:xfrm>
          <a:prstGeom prst="rect">
            <a:avLst/>
          </a:prstGeom>
        </p:spPr>
        <p:txBody>
          <a:bodyPr anchor="t" rtlCol="false" tIns="0" lIns="0" bIns="0" rIns="0">
            <a:spAutoFit/>
          </a:bodyPr>
          <a:lstStyle/>
          <a:p>
            <a:pPr algn="l">
              <a:lnSpc>
                <a:spcPts val="2520"/>
              </a:lnSpc>
            </a:pPr>
            <a:r>
              <a:rPr lang="en-US" sz="1800" spc="-84">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9" id="9"/>
          <p:cNvSpPr txBox="true"/>
          <p:nvPr/>
        </p:nvSpPr>
        <p:spPr>
          <a:xfrm rot="0">
            <a:off x="1906760" y="650408"/>
            <a:ext cx="1720589" cy="587954"/>
          </a:xfrm>
          <a:prstGeom prst="rect">
            <a:avLst/>
          </a:prstGeom>
        </p:spPr>
        <p:txBody>
          <a:bodyPr anchor="t" rtlCol="false" tIns="0" lIns="0" bIns="0" rIns="0">
            <a:spAutoFit/>
          </a:bodyPr>
          <a:lstStyle/>
          <a:p>
            <a:pPr algn="l">
              <a:lnSpc>
                <a:spcPts val="4868"/>
              </a:lnSpc>
            </a:pPr>
            <a:r>
              <a:rPr lang="en-US" b="true" sz="3477" spc="-163">
                <a:solidFill>
                  <a:srgbClr val="FFFFF8"/>
                </a:solidFill>
                <a:latin typeface="DM Sans Bold"/>
                <a:ea typeface="DM Sans Bold"/>
                <a:cs typeface="DM Sans Bold"/>
                <a:sym typeface="DM Sans Bold"/>
              </a:rPr>
              <a:t>Salford</a:t>
            </a:r>
          </a:p>
        </p:txBody>
      </p:sp>
      <p:sp>
        <p:nvSpPr>
          <p:cNvPr name="TextBox 10" id="10"/>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October 2025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6273680"/>
            <a:ext cx="274777" cy="27477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5" id="5"/>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6" id="6"/>
          <p:cNvGrpSpPr/>
          <p:nvPr/>
        </p:nvGrpSpPr>
        <p:grpSpPr>
          <a:xfrm rot="0">
            <a:off x="6543823" y="6273680"/>
            <a:ext cx="274777" cy="27477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8" id="8"/>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
        <p:nvSpPr>
          <p:cNvPr name="Freeform 9" id="9"/>
          <p:cNvSpPr/>
          <p:nvPr/>
        </p:nvSpPr>
        <p:spPr>
          <a:xfrm flipH="false" flipV="false" rot="0">
            <a:off x="12118723" y="5044445"/>
            <a:ext cx="11359122" cy="11359122"/>
          </a:xfrm>
          <a:custGeom>
            <a:avLst/>
            <a:gdLst/>
            <a:ahLst/>
            <a:cxnLst/>
            <a:rect r="r" b="b" t="t" l="l"/>
            <a:pathLst>
              <a:path h="11359122" w="11359122">
                <a:moveTo>
                  <a:pt x="0" y="0"/>
                </a:moveTo>
                <a:lnTo>
                  <a:pt x="11359122" y="0"/>
                </a:lnTo>
                <a:lnTo>
                  <a:pt x="11359122" y="11359123"/>
                </a:lnTo>
                <a:lnTo>
                  <a:pt x="0" y="11359123"/>
                </a:lnTo>
                <a:lnTo>
                  <a:pt x="0" y="0"/>
                </a:lnTo>
                <a:close/>
              </a:path>
            </a:pathLst>
          </a:custGeom>
          <a:blipFill>
            <a:blip r:embed="rId4">
              <a:alphaModFix amt="65000"/>
            </a:blip>
            <a:stretch>
              <a:fillRect l="0" t="0" r="0" b="0"/>
            </a:stretch>
          </a:blipFill>
        </p:spPr>
      </p:sp>
      <p:grpSp>
        <p:nvGrpSpPr>
          <p:cNvPr name="Group 10" id="10"/>
          <p:cNvGrpSpPr/>
          <p:nvPr/>
        </p:nvGrpSpPr>
        <p:grpSpPr>
          <a:xfrm rot="0">
            <a:off x="11586192" y="1775908"/>
            <a:ext cx="4687572" cy="5763344"/>
            <a:chOff x="0" y="0"/>
            <a:chExt cx="1234587" cy="1517918"/>
          </a:xfrm>
        </p:grpSpPr>
        <p:sp>
          <p:nvSpPr>
            <p:cNvPr name="Freeform 11" id="11"/>
            <p:cNvSpPr/>
            <p:nvPr/>
          </p:nvSpPr>
          <p:spPr>
            <a:xfrm flipH="false" flipV="false" rot="0">
              <a:off x="0" y="0"/>
              <a:ext cx="1234587" cy="1517918"/>
            </a:xfrm>
            <a:custGeom>
              <a:avLst/>
              <a:gdLst/>
              <a:ahLst/>
              <a:cxnLst/>
              <a:rect r="r" b="b" t="t" l="l"/>
              <a:pathLst>
                <a:path h="1517918" w="1234587">
                  <a:moveTo>
                    <a:pt x="33032" y="0"/>
                  </a:moveTo>
                  <a:lnTo>
                    <a:pt x="1201555" y="0"/>
                  </a:lnTo>
                  <a:cubicBezTo>
                    <a:pt x="1210316" y="0"/>
                    <a:pt x="1218718" y="3480"/>
                    <a:pt x="1224912" y="9675"/>
                  </a:cubicBezTo>
                  <a:cubicBezTo>
                    <a:pt x="1231107" y="15869"/>
                    <a:pt x="1234587" y="24271"/>
                    <a:pt x="1234587" y="33032"/>
                  </a:cubicBezTo>
                  <a:lnTo>
                    <a:pt x="1234587" y="1484886"/>
                  </a:lnTo>
                  <a:cubicBezTo>
                    <a:pt x="1234587" y="1493647"/>
                    <a:pt x="1231107" y="1502049"/>
                    <a:pt x="1224912" y="1508243"/>
                  </a:cubicBezTo>
                  <a:cubicBezTo>
                    <a:pt x="1218718" y="1514438"/>
                    <a:pt x="1210316" y="1517918"/>
                    <a:pt x="1201555" y="1517918"/>
                  </a:cubicBezTo>
                  <a:lnTo>
                    <a:pt x="33032" y="1517918"/>
                  </a:lnTo>
                  <a:cubicBezTo>
                    <a:pt x="24271" y="1517918"/>
                    <a:pt x="15869" y="1514438"/>
                    <a:pt x="9675" y="1508243"/>
                  </a:cubicBezTo>
                  <a:cubicBezTo>
                    <a:pt x="3480" y="1502049"/>
                    <a:pt x="0" y="1493647"/>
                    <a:pt x="0" y="1484886"/>
                  </a:cubicBezTo>
                  <a:lnTo>
                    <a:pt x="0" y="33032"/>
                  </a:lnTo>
                  <a:cubicBezTo>
                    <a:pt x="0" y="24271"/>
                    <a:pt x="3480" y="15869"/>
                    <a:pt x="9675" y="9675"/>
                  </a:cubicBezTo>
                  <a:cubicBezTo>
                    <a:pt x="15869" y="3480"/>
                    <a:pt x="24271" y="0"/>
                    <a:pt x="33032"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12" id="12"/>
            <p:cNvSpPr txBox="true"/>
            <p:nvPr/>
          </p:nvSpPr>
          <p:spPr>
            <a:xfrm>
              <a:off x="0" y="-19050"/>
              <a:ext cx="1234587" cy="1536968"/>
            </a:xfrm>
            <a:prstGeom prst="rect">
              <a:avLst/>
            </a:prstGeom>
          </p:spPr>
          <p:txBody>
            <a:bodyPr anchor="ctr" rtlCol="false" tIns="50800" lIns="50800" bIns="50800" rIns="50800"/>
            <a:lstStyle/>
            <a:p>
              <a:pPr algn="ctr">
                <a:lnSpc>
                  <a:spcPts val="2520"/>
                </a:lnSpc>
              </a:pPr>
            </a:p>
          </p:txBody>
        </p:sp>
      </p:grpSp>
      <p:grpSp>
        <p:nvGrpSpPr>
          <p:cNvPr name="Group 13" id="13"/>
          <p:cNvGrpSpPr/>
          <p:nvPr/>
        </p:nvGrpSpPr>
        <p:grpSpPr>
          <a:xfrm rot="0">
            <a:off x="11981334" y="2158880"/>
            <a:ext cx="274777" cy="274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5" id="15"/>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
        <p:nvSpPr>
          <p:cNvPr name="TextBox 16" id="16"/>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17" id="17"/>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TextBox 18" id="18"/>
          <p:cNvSpPr txBox="true"/>
          <p:nvPr/>
        </p:nvSpPr>
        <p:spPr>
          <a:xfrm rot="0">
            <a:off x="1028700" y="2320081"/>
            <a:ext cx="8658723" cy="2230755"/>
          </a:xfrm>
          <a:prstGeom prst="rect">
            <a:avLst/>
          </a:prstGeom>
        </p:spPr>
        <p:txBody>
          <a:bodyPr anchor="t" rtlCol="false" tIns="0" lIns="0" bIns="0" rIns="0">
            <a:spAutoFit/>
          </a:bodyPr>
          <a:lstStyle/>
          <a:p>
            <a:pPr algn="l" marL="0" indent="0" lvl="0">
              <a:lnSpc>
                <a:spcPts val="8460"/>
              </a:lnSpc>
              <a:spcBef>
                <a:spcPct val="0"/>
              </a:spcBef>
            </a:pPr>
            <a:r>
              <a:rPr lang="en-US" b="true" sz="7200" spc="-422" strike="noStrike" u="none">
                <a:solidFill>
                  <a:srgbClr val="FFFFFF"/>
                </a:solidFill>
                <a:latin typeface="Hagrid Medium"/>
                <a:ea typeface="Hagrid Medium"/>
                <a:cs typeface="Hagrid Medium"/>
                <a:sym typeface="Hagrid Medium"/>
              </a:rPr>
              <a:t>Полезность
и ценность</a:t>
            </a:r>
          </a:p>
        </p:txBody>
      </p:sp>
      <p:sp>
        <p:nvSpPr>
          <p:cNvPr name="TextBox 19" id="19"/>
          <p:cNvSpPr txBox="true"/>
          <p:nvPr/>
        </p:nvSpPr>
        <p:spPr>
          <a:xfrm rot="0">
            <a:off x="1547487" y="62158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БОЛЬ</a:t>
            </a:r>
          </a:p>
        </p:txBody>
      </p:sp>
      <p:sp>
        <p:nvSpPr>
          <p:cNvPr name="TextBox 20" id="20"/>
          <p:cNvSpPr txBox="true"/>
          <p:nvPr/>
        </p:nvSpPr>
        <p:spPr>
          <a:xfrm rot="0">
            <a:off x="7066249" y="62158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ЦИФРЫ</a:t>
            </a:r>
          </a:p>
        </p:txBody>
      </p:sp>
      <p:sp>
        <p:nvSpPr>
          <p:cNvPr name="TextBox 21" id="21"/>
          <p:cNvSpPr txBox="true"/>
          <p:nvPr/>
        </p:nvSpPr>
        <p:spPr>
          <a:xfrm rot="0">
            <a:off x="12503761" y="21010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МАСШТАБ</a:t>
            </a:r>
          </a:p>
        </p:txBody>
      </p:sp>
      <p:sp>
        <p:nvSpPr>
          <p:cNvPr name="TextBox 22" id="22"/>
          <p:cNvSpPr txBox="true"/>
          <p:nvPr/>
        </p:nvSpPr>
        <p:spPr>
          <a:xfrm rot="0">
            <a:off x="1028700" y="70364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Живут вместе — тратят вместе. Кто кому должен, считают в Excel или в переписке: на третьей покупке никто уже не сходится, начинаются споры.</a:t>
            </a:r>
          </a:p>
        </p:txBody>
      </p:sp>
      <p:sp>
        <p:nvSpPr>
          <p:cNvPr name="TextBox 23" id="23"/>
          <p:cNvSpPr txBox="true"/>
          <p:nvPr/>
        </p:nvSpPr>
        <p:spPr>
          <a:xfrm rot="0">
            <a:off x="6543823" y="70364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Взаимозачёт сводит N×(N−1)/2 встречных долгов к N−1 переводу: впятером это 4 перевода вместо 10. Покупка — одно сообщение или голос, категорию ставит ИИ.</a:t>
            </a:r>
          </a:p>
        </p:txBody>
      </p:sp>
      <p:sp>
        <p:nvSpPr>
          <p:cNvPr name="TextBox 24" id="24"/>
          <p:cNvSpPr txBox="true"/>
          <p:nvPr/>
        </p:nvSpPr>
        <p:spPr>
          <a:xfrm rot="0">
            <a:off x="11981334" y="29216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Бюджетов сколько угодно: квартира, поездка, семья, общежитие. Два режима расчётов — общая касса и дележ.</a:t>
            </a:r>
          </a:p>
        </p:txBody>
      </p:sp>
      <p:sp>
        <p:nvSpPr>
          <p:cNvPr name="TextBox 25" id="25"/>
          <p:cNvSpPr txBox="true"/>
          <p:nvPr/>
        </p:nvSpPr>
        <p:spPr>
          <a:xfrm rot="0">
            <a:off x="11981334" y="5396110"/>
            <a:ext cx="3897288" cy="17265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Работает и без Telegram: вход по ссылке-приглашению или через Яндекс ID.</a:t>
            </a:r>
          </a:p>
        </p:txBody>
      </p:sp>
      <p:sp>
        <p:nvSpPr>
          <p:cNvPr name="Freeform 26" id="26"/>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118723" y="5044445"/>
            <a:ext cx="11359122" cy="11359122"/>
          </a:xfrm>
          <a:custGeom>
            <a:avLst/>
            <a:gdLst/>
            <a:ahLst/>
            <a:cxnLst/>
            <a:rect r="r" b="b" t="t" l="l"/>
            <a:pathLst>
              <a:path h="11359122" w="11359122">
                <a:moveTo>
                  <a:pt x="0" y="0"/>
                </a:moveTo>
                <a:lnTo>
                  <a:pt x="11359122" y="0"/>
                </a:lnTo>
                <a:lnTo>
                  <a:pt x="11359122" y="11359123"/>
                </a:lnTo>
                <a:lnTo>
                  <a:pt x="0" y="11359123"/>
                </a:lnTo>
                <a:lnTo>
                  <a:pt x="0" y="0"/>
                </a:lnTo>
                <a:close/>
              </a:path>
            </a:pathLst>
          </a:custGeom>
          <a:blipFill>
            <a:blip r:embed="rId4">
              <a:alphaModFix amt="65000"/>
            </a:blip>
            <a:stretch>
              <a:fillRect l="0" t="0" r="0" b="0"/>
            </a:stretch>
          </a:blipFill>
        </p:spPr>
      </p:sp>
      <p:sp>
        <p:nvSpPr>
          <p:cNvPr name="Freeform 4" id="4"/>
          <p:cNvSpPr/>
          <p:nvPr/>
        </p:nvSpPr>
        <p:spPr>
          <a:xfrm flipH="false" flipV="false" rot="0">
            <a:off x="-4650861" y="5657850"/>
            <a:ext cx="11359122" cy="11359122"/>
          </a:xfrm>
          <a:custGeom>
            <a:avLst/>
            <a:gdLst/>
            <a:ahLst/>
            <a:cxnLst/>
            <a:rect r="r" b="b" t="t" l="l"/>
            <a:pathLst>
              <a:path h="11359122" w="11359122">
                <a:moveTo>
                  <a:pt x="0" y="0"/>
                </a:moveTo>
                <a:lnTo>
                  <a:pt x="11359122" y="0"/>
                </a:lnTo>
                <a:lnTo>
                  <a:pt x="11359122" y="11359122"/>
                </a:lnTo>
                <a:lnTo>
                  <a:pt x="0" y="11359122"/>
                </a:lnTo>
                <a:lnTo>
                  <a:pt x="0" y="0"/>
                </a:lnTo>
                <a:close/>
              </a:path>
            </a:pathLst>
          </a:custGeom>
          <a:blipFill>
            <a:blip r:embed="rId4">
              <a:alphaModFix amt="65000"/>
            </a:blip>
            <a:stretch>
              <a:fillRect l="0" t="0" r="0" b="0"/>
            </a:stretch>
          </a:blipFill>
        </p:spPr>
      </p:sp>
      <p:sp>
        <p:nvSpPr>
          <p:cNvPr name="Freeform 5" id="5"/>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grpSp>
        <p:nvGrpSpPr>
          <p:cNvPr name="Group 6" id="6"/>
          <p:cNvGrpSpPr/>
          <p:nvPr/>
        </p:nvGrpSpPr>
        <p:grpSpPr>
          <a:xfrm rot="0">
            <a:off x="7701013" y="6273680"/>
            <a:ext cx="274777" cy="27477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8" id="8"/>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9" id="9"/>
          <p:cNvGrpSpPr/>
          <p:nvPr/>
        </p:nvGrpSpPr>
        <p:grpSpPr>
          <a:xfrm rot="0">
            <a:off x="13216136" y="6273680"/>
            <a:ext cx="274777" cy="274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1" id="11"/>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12" id="12"/>
          <p:cNvGrpSpPr/>
          <p:nvPr/>
        </p:nvGrpSpPr>
        <p:grpSpPr>
          <a:xfrm rot="0">
            <a:off x="1283562" y="1775908"/>
            <a:ext cx="5229758" cy="5763344"/>
            <a:chOff x="0" y="0"/>
            <a:chExt cx="1377385" cy="1517918"/>
          </a:xfrm>
        </p:grpSpPr>
        <p:sp>
          <p:nvSpPr>
            <p:cNvPr name="Freeform 13" id="13"/>
            <p:cNvSpPr/>
            <p:nvPr/>
          </p:nvSpPr>
          <p:spPr>
            <a:xfrm flipH="false" flipV="false" rot="0">
              <a:off x="0" y="0"/>
              <a:ext cx="1377385" cy="1517918"/>
            </a:xfrm>
            <a:custGeom>
              <a:avLst/>
              <a:gdLst/>
              <a:ahLst/>
              <a:cxnLst/>
              <a:rect r="r" b="b" t="t" l="l"/>
              <a:pathLst>
                <a:path h="1517918" w="1377385">
                  <a:moveTo>
                    <a:pt x="29607" y="0"/>
                  </a:moveTo>
                  <a:lnTo>
                    <a:pt x="1347778" y="0"/>
                  </a:lnTo>
                  <a:cubicBezTo>
                    <a:pt x="1355630" y="0"/>
                    <a:pt x="1363161" y="3119"/>
                    <a:pt x="1368713" y="8672"/>
                  </a:cubicBezTo>
                  <a:cubicBezTo>
                    <a:pt x="1374266" y="14224"/>
                    <a:pt x="1377385" y="21755"/>
                    <a:pt x="1377385" y="29607"/>
                  </a:cubicBezTo>
                  <a:lnTo>
                    <a:pt x="1377385" y="1488311"/>
                  </a:lnTo>
                  <a:cubicBezTo>
                    <a:pt x="1377385" y="1496163"/>
                    <a:pt x="1374266" y="1503694"/>
                    <a:pt x="1368713" y="1509246"/>
                  </a:cubicBezTo>
                  <a:cubicBezTo>
                    <a:pt x="1363161" y="1514799"/>
                    <a:pt x="1355630" y="1517918"/>
                    <a:pt x="1347778" y="1517918"/>
                  </a:cubicBezTo>
                  <a:lnTo>
                    <a:pt x="29607" y="1517918"/>
                  </a:lnTo>
                  <a:cubicBezTo>
                    <a:pt x="21755" y="1517918"/>
                    <a:pt x="14224" y="1514799"/>
                    <a:pt x="8672" y="1509246"/>
                  </a:cubicBezTo>
                  <a:cubicBezTo>
                    <a:pt x="3119" y="1503694"/>
                    <a:pt x="0" y="1496163"/>
                    <a:pt x="0" y="1488311"/>
                  </a:cubicBezTo>
                  <a:lnTo>
                    <a:pt x="0" y="29607"/>
                  </a:lnTo>
                  <a:cubicBezTo>
                    <a:pt x="0" y="21755"/>
                    <a:pt x="3119" y="14224"/>
                    <a:pt x="8672" y="8672"/>
                  </a:cubicBezTo>
                  <a:cubicBezTo>
                    <a:pt x="14224" y="3119"/>
                    <a:pt x="21755" y="0"/>
                    <a:pt x="29607"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14" id="14"/>
            <p:cNvSpPr txBox="true"/>
            <p:nvPr/>
          </p:nvSpPr>
          <p:spPr>
            <a:xfrm>
              <a:off x="0" y="-19050"/>
              <a:ext cx="1377385" cy="1536968"/>
            </a:xfrm>
            <a:prstGeom prst="rect">
              <a:avLst/>
            </a:prstGeom>
          </p:spPr>
          <p:txBody>
            <a:bodyPr anchor="ctr" rtlCol="false" tIns="50800" lIns="50800" bIns="50800" rIns="50800"/>
            <a:lstStyle/>
            <a:p>
              <a:pPr algn="ctr">
                <a:lnSpc>
                  <a:spcPts val="2520"/>
                </a:lnSpc>
              </a:pPr>
            </a:p>
          </p:txBody>
        </p:sp>
      </p:grpSp>
      <p:grpSp>
        <p:nvGrpSpPr>
          <p:cNvPr name="Group 15" id="15"/>
          <p:cNvGrpSpPr/>
          <p:nvPr/>
        </p:nvGrpSpPr>
        <p:grpSpPr>
          <a:xfrm rot="0">
            <a:off x="1876859" y="2158880"/>
            <a:ext cx="274777" cy="27477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7" id="17"/>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
        <p:nvSpPr>
          <p:cNvPr name="TextBox 18" id="18"/>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19" id="19"/>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TextBox 20" id="20"/>
          <p:cNvSpPr txBox="true"/>
          <p:nvPr/>
        </p:nvSpPr>
        <p:spPr>
          <a:xfrm rot="0">
            <a:off x="8219800" y="62158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ИИ В ЯДРЕ</a:t>
            </a:r>
          </a:p>
        </p:txBody>
      </p:sp>
      <p:sp>
        <p:nvSpPr>
          <p:cNvPr name="TextBox 21" id="21"/>
          <p:cNvSpPr txBox="true"/>
          <p:nvPr/>
        </p:nvSpPr>
        <p:spPr>
          <a:xfrm rot="0">
            <a:off x="13738563" y="62158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ВАЙБ-КОДИНГ</a:t>
            </a:r>
          </a:p>
        </p:txBody>
      </p:sp>
      <p:sp>
        <p:nvSpPr>
          <p:cNvPr name="TextBox 22" id="22"/>
          <p:cNvSpPr txBox="true"/>
          <p:nvPr/>
        </p:nvSpPr>
        <p:spPr>
          <a:xfrm rot="0">
            <a:off x="2399286" y="21010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КИЛЛЕР-ФИЧА</a:t>
            </a:r>
          </a:p>
        </p:txBody>
      </p:sp>
      <p:sp>
        <p:nvSpPr>
          <p:cNvPr name="TextBox 23" id="23"/>
          <p:cNvSpPr txBox="true"/>
          <p:nvPr/>
        </p:nvSpPr>
        <p:spPr>
          <a:xfrm rot="0">
            <a:off x="7701013" y="70364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Категоризация покупок, советы по оптимизации, вежливые напоминания о долгах и голосовой ввод. Выключить ИИ — продукт станет обычной таблицей.</a:t>
            </a:r>
          </a:p>
        </p:txBody>
      </p:sp>
      <p:sp>
        <p:nvSpPr>
          <p:cNvPr name="TextBox 24" id="24"/>
          <p:cNvSpPr txBox="true"/>
          <p:nvPr/>
        </p:nvSpPr>
        <p:spPr>
          <a:xfrm rot="0">
            <a:off x="13216136" y="70364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Claude Code: генерация модулей, разбор ошибок, автотесты, вёрстка мини-аппы. 83 коммита за 4 дня, 4 набора автотестов.</a:t>
            </a:r>
          </a:p>
        </p:txBody>
      </p:sp>
      <p:sp>
        <p:nvSpPr>
          <p:cNvPr name="TextBox 25" id="25"/>
          <p:cNvSpPr txBox="true"/>
          <p:nvPr/>
        </p:nvSpPr>
        <p:spPr>
          <a:xfrm rot="0">
            <a:off x="1876859" y="29216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Один сценарий в трёх местах: чат, мини-аппа и браузер работают с общими данными. Аналоги требуют, чтобы приложение поставили все участники.</a:t>
            </a:r>
          </a:p>
        </p:txBody>
      </p:sp>
      <p:sp>
        <p:nvSpPr>
          <p:cNvPr name="TextBox 26" id="26"/>
          <p:cNvSpPr txBox="true"/>
          <p:nvPr/>
        </p:nvSpPr>
        <p:spPr>
          <a:xfrm rot="0">
            <a:off x="1876859" y="5396110"/>
            <a:ext cx="3897288" cy="17265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Расчёт долгов живёт в чате, где люди и так договариваются.</a:t>
            </a:r>
          </a:p>
        </p:txBody>
      </p:sp>
      <p:sp>
        <p:nvSpPr>
          <p:cNvPr name="TextBox 27" id="27"/>
          <p:cNvSpPr txBox="true"/>
          <p:nvPr/>
        </p:nvSpPr>
        <p:spPr>
          <a:xfrm rot="0">
            <a:off x="7701013" y="2377955"/>
            <a:ext cx="9250199" cy="2230755"/>
          </a:xfrm>
          <a:prstGeom prst="rect">
            <a:avLst/>
          </a:prstGeom>
        </p:spPr>
        <p:txBody>
          <a:bodyPr anchor="t" rtlCol="false" tIns="0" lIns="0" bIns="0" rIns="0">
            <a:spAutoFit/>
          </a:bodyPr>
          <a:lstStyle/>
          <a:p>
            <a:pPr algn="l" marL="0" indent="0" lvl="0">
              <a:lnSpc>
                <a:spcPts val="8460"/>
              </a:lnSpc>
              <a:spcBef>
                <a:spcPct val="0"/>
              </a:spcBef>
            </a:pPr>
            <a:r>
              <a:rPr lang="en-US" b="true" sz="6600" spc="-422" strike="noStrike" u="none">
                <a:solidFill>
                  <a:srgbClr val="FFFFFF"/>
                </a:solidFill>
                <a:latin typeface="Hagrid Medium"/>
                <a:ea typeface="Hagrid Medium"/>
                <a:cs typeface="Hagrid Medium"/>
                <a:sym typeface="Hagrid Medium"/>
              </a:rPr>
              <a:t>Инновационные
технологии</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118723" y="5044445"/>
            <a:ext cx="11359122" cy="11359122"/>
          </a:xfrm>
          <a:custGeom>
            <a:avLst/>
            <a:gdLst/>
            <a:ahLst/>
            <a:cxnLst/>
            <a:rect r="r" b="b" t="t" l="l"/>
            <a:pathLst>
              <a:path h="11359122" w="11359122">
                <a:moveTo>
                  <a:pt x="0" y="0"/>
                </a:moveTo>
                <a:lnTo>
                  <a:pt x="11359122" y="0"/>
                </a:lnTo>
                <a:lnTo>
                  <a:pt x="11359122" y="11359123"/>
                </a:lnTo>
                <a:lnTo>
                  <a:pt x="0" y="11359123"/>
                </a:lnTo>
                <a:lnTo>
                  <a:pt x="0" y="0"/>
                </a:lnTo>
                <a:close/>
              </a:path>
            </a:pathLst>
          </a:custGeom>
          <a:blipFill>
            <a:blip r:embed="rId4">
              <a:alphaModFix amt="65000"/>
            </a:blip>
            <a:stretch>
              <a:fillRect l="0" t="0" r="0" b="0"/>
            </a:stretch>
          </a:blipFill>
        </p:spPr>
      </p:sp>
      <p:sp>
        <p:nvSpPr>
          <p:cNvPr name="Freeform 4" id="4"/>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grpSp>
        <p:nvGrpSpPr>
          <p:cNvPr name="Group 5" id="5"/>
          <p:cNvGrpSpPr/>
          <p:nvPr/>
        </p:nvGrpSpPr>
        <p:grpSpPr>
          <a:xfrm rot="0">
            <a:off x="10666678" y="1775908"/>
            <a:ext cx="6592622" cy="7482392"/>
            <a:chOff x="0" y="0"/>
            <a:chExt cx="1736328" cy="1970671"/>
          </a:xfrm>
        </p:grpSpPr>
        <p:sp>
          <p:nvSpPr>
            <p:cNvPr name="Freeform 6" id="6"/>
            <p:cNvSpPr/>
            <p:nvPr/>
          </p:nvSpPr>
          <p:spPr>
            <a:xfrm flipH="false" flipV="false" rot="0">
              <a:off x="0" y="0"/>
              <a:ext cx="1736328" cy="1970671"/>
            </a:xfrm>
            <a:custGeom>
              <a:avLst/>
              <a:gdLst/>
              <a:ahLst/>
              <a:cxnLst/>
              <a:rect r="r" b="b" t="t" l="l"/>
              <a:pathLst>
                <a:path h="1970671" w="1736328">
                  <a:moveTo>
                    <a:pt x="23487" y="0"/>
                  </a:moveTo>
                  <a:lnTo>
                    <a:pt x="1712842" y="0"/>
                  </a:lnTo>
                  <a:cubicBezTo>
                    <a:pt x="1725813" y="0"/>
                    <a:pt x="1736328" y="10515"/>
                    <a:pt x="1736328" y="23487"/>
                  </a:cubicBezTo>
                  <a:lnTo>
                    <a:pt x="1736328" y="1947185"/>
                  </a:lnTo>
                  <a:cubicBezTo>
                    <a:pt x="1736328" y="1960156"/>
                    <a:pt x="1725813" y="1970671"/>
                    <a:pt x="1712842" y="1970671"/>
                  </a:cubicBezTo>
                  <a:lnTo>
                    <a:pt x="23487" y="1970671"/>
                  </a:lnTo>
                  <a:cubicBezTo>
                    <a:pt x="10515" y="1970671"/>
                    <a:pt x="0" y="1960156"/>
                    <a:pt x="0" y="1947185"/>
                  </a:cubicBezTo>
                  <a:lnTo>
                    <a:pt x="0" y="23487"/>
                  </a:lnTo>
                  <a:cubicBezTo>
                    <a:pt x="0" y="10515"/>
                    <a:pt x="10515" y="0"/>
                    <a:pt x="23487"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7" id="7"/>
            <p:cNvSpPr txBox="true"/>
            <p:nvPr/>
          </p:nvSpPr>
          <p:spPr>
            <a:xfrm>
              <a:off x="0" y="-19050"/>
              <a:ext cx="1736328" cy="1989721"/>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1301741" y="2158880"/>
            <a:ext cx="274777" cy="2747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0" id="10"/>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11" id="11"/>
          <p:cNvGrpSpPr/>
          <p:nvPr/>
        </p:nvGrpSpPr>
        <p:grpSpPr>
          <a:xfrm rot="0">
            <a:off x="11301741" y="4589848"/>
            <a:ext cx="274777" cy="27477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3" id="13"/>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14" id="14"/>
          <p:cNvGrpSpPr/>
          <p:nvPr/>
        </p:nvGrpSpPr>
        <p:grpSpPr>
          <a:xfrm rot="0">
            <a:off x="11301741" y="6963666"/>
            <a:ext cx="274777" cy="27477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6" id="16"/>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17" id="17"/>
          <p:cNvGrpSpPr/>
          <p:nvPr/>
        </p:nvGrpSpPr>
        <p:grpSpPr>
          <a:xfrm rot="0">
            <a:off x="-477529" y="7299012"/>
            <a:ext cx="9918691" cy="3358310"/>
            <a:chOff x="0" y="0"/>
            <a:chExt cx="3716749" cy="1258431"/>
          </a:xfrm>
        </p:grpSpPr>
        <p:sp>
          <p:nvSpPr>
            <p:cNvPr name="Freeform 18" id="18"/>
            <p:cNvSpPr/>
            <p:nvPr/>
          </p:nvSpPr>
          <p:spPr>
            <a:xfrm flipH="false" flipV="false" rot="0">
              <a:off x="0" y="0"/>
              <a:ext cx="3716750" cy="1258444"/>
            </a:xfrm>
            <a:custGeom>
              <a:avLst/>
              <a:gdLst/>
              <a:ahLst/>
              <a:cxnLst/>
              <a:rect r="r" b="b" t="t" l="l"/>
              <a:pathLst>
                <a:path h="1258444" w="3716750">
                  <a:moveTo>
                    <a:pt x="3229308" y="0"/>
                  </a:moveTo>
                  <a:lnTo>
                    <a:pt x="177673" y="0"/>
                  </a:lnTo>
                  <a:cubicBezTo>
                    <a:pt x="79547" y="0"/>
                    <a:pt x="0" y="79547"/>
                    <a:pt x="0" y="177673"/>
                  </a:cubicBezTo>
                  <a:lnTo>
                    <a:pt x="0" y="1080771"/>
                  </a:lnTo>
                  <a:cubicBezTo>
                    <a:pt x="0" y="1178897"/>
                    <a:pt x="79547" y="1258444"/>
                    <a:pt x="177673" y="1258444"/>
                  </a:cubicBezTo>
                  <a:lnTo>
                    <a:pt x="3539077" y="1258444"/>
                  </a:lnTo>
                  <a:cubicBezTo>
                    <a:pt x="3637203" y="1258444"/>
                    <a:pt x="3716750" y="1178897"/>
                    <a:pt x="3716750" y="1080771"/>
                  </a:cubicBezTo>
                  <a:lnTo>
                    <a:pt x="3716750" y="523958"/>
                  </a:lnTo>
                  <a:cubicBezTo>
                    <a:pt x="3716750" y="480251"/>
                    <a:pt x="3700640" y="438079"/>
                    <a:pt x="3671501" y="405503"/>
                  </a:cubicBezTo>
                  <a:lnTo>
                    <a:pt x="3361724" y="59214"/>
                  </a:lnTo>
                  <a:cubicBezTo>
                    <a:pt x="3328020" y="21536"/>
                    <a:pt x="3279861" y="0"/>
                    <a:pt x="3229308" y="0"/>
                  </a:cubicBezTo>
                  <a:close/>
                </a:path>
              </a:pathLst>
            </a:custGeom>
            <a:blipFill>
              <a:blip r:embed="rId6"/>
              <a:stretch>
                <a:fillRect l="0" t="-58626" r="0" b="-38147"/>
              </a:stretch>
            </a:blipFill>
          </p:spPr>
        </p:sp>
      </p:grpSp>
      <p:sp>
        <p:nvSpPr>
          <p:cNvPr name="TextBox 19" id="19"/>
          <p:cNvSpPr txBox="true"/>
          <p:nvPr/>
        </p:nvSpPr>
        <p:spPr>
          <a:xfrm rot="0">
            <a:off x="1906760" y="650408"/>
            <a:ext cx="1720589" cy="587954"/>
          </a:xfrm>
          <a:prstGeom prst="rect">
            <a:avLst/>
          </a:prstGeom>
        </p:spPr>
        <p:txBody>
          <a:bodyPr anchor="t" rtlCol="false" tIns="0" lIns="0" bIns="0" rIns="0">
            <a:spAutoFit/>
          </a:bodyPr>
          <a:lstStyle/>
          <a:p>
            <a:pPr algn="l">
              <a:lnSpc>
                <a:spcPts val="4868"/>
              </a:lnSpc>
            </a:pPr>
            <a:r>
              <a:rPr lang="en-US" b="true" sz="3477" spc="-163">
                <a:solidFill>
                  <a:srgbClr val="FFFFF8"/>
                </a:solidFill>
                <a:latin typeface="DM Sans Bold"/>
                <a:ea typeface="DM Sans Bold"/>
                <a:cs typeface="DM Sans Bold"/>
                <a:sym typeface="DM Sans Bold"/>
              </a:rPr>
              <a:t>Salford</a:t>
            </a:r>
          </a:p>
        </p:txBody>
      </p:sp>
      <p:sp>
        <p:nvSpPr>
          <p:cNvPr name="TextBox 20" id="20"/>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October 2025</a:t>
            </a:r>
          </a:p>
        </p:txBody>
      </p:sp>
      <p:sp>
        <p:nvSpPr>
          <p:cNvPr name="TextBox 21" id="21"/>
          <p:cNvSpPr txBox="true"/>
          <p:nvPr/>
        </p:nvSpPr>
        <p:spPr>
          <a:xfrm rot="0">
            <a:off x="11937057" y="21010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SERVICE 1</a:t>
            </a:r>
          </a:p>
        </p:txBody>
      </p:sp>
      <p:sp>
        <p:nvSpPr>
          <p:cNvPr name="TextBox 22" id="22"/>
          <p:cNvSpPr txBox="true"/>
          <p:nvPr/>
        </p:nvSpPr>
        <p:spPr>
          <a:xfrm rot="0">
            <a:off x="11937057" y="4531974"/>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SERVICE 2</a:t>
            </a:r>
          </a:p>
        </p:txBody>
      </p:sp>
      <p:sp>
        <p:nvSpPr>
          <p:cNvPr name="TextBox 23" id="23"/>
          <p:cNvSpPr txBox="true"/>
          <p:nvPr/>
        </p:nvSpPr>
        <p:spPr>
          <a:xfrm rot="0">
            <a:off x="11937057" y="6905792"/>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SERVICE 3</a:t>
            </a:r>
          </a:p>
        </p:txBody>
      </p:sp>
      <p:sp>
        <p:nvSpPr>
          <p:cNvPr name="TextBox 24" id="24"/>
          <p:cNvSpPr txBox="true"/>
          <p:nvPr/>
        </p:nvSpPr>
        <p:spPr>
          <a:xfrm rot="0">
            <a:off x="11937057" y="2729209"/>
            <a:ext cx="4379493"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
        <p:nvSpPr>
          <p:cNvPr name="TextBox 25" id="25"/>
          <p:cNvSpPr txBox="true"/>
          <p:nvPr/>
        </p:nvSpPr>
        <p:spPr>
          <a:xfrm rot="0">
            <a:off x="11937057" y="5160177"/>
            <a:ext cx="4379493"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
        <p:nvSpPr>
          <p:cNvPr name="TextBox 26" id="26"/>
          <p:cNvSpPr txBox="true"/>
          <p:nvPr/>
        </p:nvSpPr>
        <p:spPr>
          <a:xfrm rot="0">
            <a:off x="11937057" y="7533995"/>
            <a:ext cx="4379493"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
        <p:nvSpPr>
          <p:cNvPr name="TextBox 27" id="27"/>
          <p:cNvSpPr txBox="true"/>
          <p:nvPr/>
        </p:nvSpPr>
        <p:spPr>
          <a:xfrm rot="0">
            <a:off x="1166319" y="1891536"/>
            <a:ext cx="9250199" cy="2230755"/>
          </a:xfrm>
          <a:prstGeom prst="rect">
            <a:avLst/>
          </a:prstGeom>
        </p:spPr>
        <p:txBody>
          <a:bodyPr anchor="t" rtlCol="false" tIns="0" lIns="0" bIns="0" rIns="0">
            <a:spAutoFit/>
          </a:bodyPr>
          <a:lstStyle/>
          <a:p>
            <a:pPr algn="l">
              <a:lnSpc>
                <a:spcPts val="8460"/>
              </a:lnSpc>
            </a:pPr>
            <a:r>
              <a:rPr lang="en-US" sz="9000" spc="-422" b="true">
                <a:solidFill>
                  <a:srgbClr val="FFFFFF"/>
                </a:solidFill>
                <a:latin typeface="Hagrid Medium"/>
                <a:ea typeface="Hagrid Medium"/>
                <a:cs typeface="Hagrid Medium"/>
                <a:sym typeface="Hagrid Medium"/>
              </a:rPr>
              <a:t>Discover Our </a:t>
            </a:r>
          </a:p>
          <a:p>
            <a:pPr algn="l">
              <a:lnSpc>
                <a:spcPts val="8460"/>
              </a:lnSpc>
            </a:pPr>
            <a:r>
              <a:rPr lang="en-US" sz="9000" spc="-422" b="true">
                <a:solidFill>
                  <a:srgbClr val="FFFFFF"/>
                </a:solidFill>
                <a:latin typeface="Hagrid Medium"/>
                <a:ea typeface="Hagrid Medium"/>
                <a:cs typeface="Hagrid Medium"/>
                <a:sym typeface="Hagrid Medium"/>
              </a:rPr>
              <a:t>Services</a:t>
            </a:r>
          </a:p>
        </p:txBody>
      </p:sp>
      <p:sp>
        <p:nvSpPr>
          <p:cNvPr name="TextBox 28" id="28"/>
          <p:cNvSpPr txBox="true"/>
          <p:nvPr/>
        </p:nvSpPr>
        <p:spPr>
          <a:xfrm rot="0">
            <a:off x="1166319" y="4560441"/>
            <a:ext cx="6549654" cy="1564005"/>
          </a:xfrm>
          <a:prstGeom prst="rect">
            <a:avLst/>
          </a:prstGeom>
        </p:spPr>
        <p:txBody>
          <a:bodyPr anchor="t" rtlCol="false" tIns="0" lIns="0" bIns="0" rIns="0">
            <a:spAutoFit/>
          </a:bodyPr>
          <a:lstStyle/>
          <a:p>
            <a:pPr algn="l">
              <a:lnSpc>
                <a:spcPts val="2520"/>
              </a:lnSpc>
            </a:pPr>
            <a:r>
              <a:rPr lang="en-US" sz="1800" spc="-84">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118723" y="5044445"/>
            <a:ext cx="11359122" cy="11359122"/>
          </a:xfrm>
          <a:custGeom>
            <a:avLst/>
            <a:gdLst/>
            <a:ahLst/>
            <a:cxnLst/>
            <a:rect r="r" b="b" t="t" l="l"/>
            <a:pathLst>
              <a:path h="11359122" w="11359122">
                <a:moveTo>
                  <a:pt x="0" y="0"/>
                </a:moveTo>
                <a:lnTo>
                  <a:pt x="11359122" y="0"/>
                </a:lnTo>
                <a:lnTo>
                  <a:pt x="11359122" y="11359123"/>
                </a:lnTo>
                <a:lnTo>
                  <a:pt x="0" y="11359123"/>
                </a:lnTo>
                <a:lnTo>
                  <a:pt x="0" y="0"/>
                </a:lnTo>
                <a:close/>
              </a:path>
            </a:pathLst>
          </a:custGeom>
          <a:blipFill>
            <a:blip r:embed="rId4">
              <a:alphaModFix amt="65000"/>
            </a:blip>
            <a:stretch>
              <a:fillRect l="0" t="0" r="0" b="0"/>
            </a:stretch>
          </a:blipFill>
        </p:spPr>
      </p:sp>
      <p:sp>
        <p:nvSpPr>
          <p:cNvPr name="Freeform 4" id="4"/>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sp>
        <p:nvSpPr>
          <p:cNvPr name="Freeform 5" id="5"/>
          <p:cNvSpPr/>
          <p:nvPr/>
        </p:nvSpPr>
        <p:spPr>
          <a:xfrm flipH="false" flipV="false" rot="0">
            <a:off x="-3716003" y="7236379"/>
            <a:ext cx="6101241" cy="6101241"/>
          </a:xfrm>
          <a:custGeom>
            <a:avLst/>
            <a:gdLst/>
            <a:ahLst/>
            <a:cxnLst/>
            <a:rect r="r" b="b" t="t" l="l"/>
            <a:pathLst>
              <a:path h="6101241" w="6101241">
                <a:moveTo>
                  <a:pt x="0" y="0"/>
                </a:moveTo>
                <a:lnTo>
                  <a:pt x="6101241" y="0"/>
                </a:lnTo>
                <a:lnTo>
                  <a:pt x="6101241" y="6101242"/>
                </a:lnTo>
                <a:lnTo>
                  <a:pt x="0" y="6101242"/>
                </a:lnTo>
                <a:lnTo>
                  <a:pt x="0" y="0"/>
                </a:lnTo>
                <a:close/>
              </a:path>
            </a:pathLst>
          </a:custGeom>
          <a:blipFill>
            <a:blip r:embed="rId5">
              <a:alphaModFix amt="65000"/>
            </a:blip>
            <a:stretch>
              <a:fillRect l="0" t="0" r="0" b="0"/>
            </a:stretch>
          </a:blipFill>
        </p:spPr>
      </p:sp>
      <p:grpSp>
        <p:nvGrpSpPr>
          <p:cNvPr name="Group 6" id="6"/>
          <p:cNvGrpSpPr/>
          <p:nvPr/>
        </p:nvGrpSpPr>
        <p:grpSpPr>
          <a:xfrm rot="0">
            <a:off x="1166319" y="1913297"/>
            <a:ext cx="7455149" cy="3463800"/>
            <a:chOff x="0" y="0"/>
            <a:chExt cx="1963496" cy="912276"/>
          </a:xfrm>
        </p:grpSpPr>
        <p:sp>
          <p:nvSpPr>
            <p:cNvPr name="Freeform 7" id="7"/>
            <p:cNvSpPr/>
            <p:nvPr/>
          </p:nvSpPr>
          <p:spPr>
            <a:xfrm flipH="false" flipV="false" rot="0">
              <a:off x="0" y="0"/>
              <a:ext cx="1963496" cy="912276"/>
            </a:xfrm>
            <a:custGeom>
              <a:avLst/>
              <a:gdLst/>
              <a:ahLst/>
              <a:cxnLst/>
              <a:rect r="r" b="b" t="t" l="l"/>
              <a:pathLst>
                <a:path h="912276" w="1963496">
                  <a:moveTo>
                    <a:pt x="20769" y="0"/>
                  </a:moveTo>
                  <a:lnTo>
                    <a:pt x="1942727" y="0"/>
                  </a:lnTo>
                  <a:cubicBezTo>
                    <a:pt x="1948235" y="0"/>
                    <a:pt x="1953518" y="2188"/>
                    <a:pt x="1957413" y="6083"/>
                  </a:cubicBezTo>
                  <a:cubicBezTo>
                    <a:pt x="1961308" y="9978"/>
                    <a:pt x="1963496" y="15261"/>
                    <a:pt x="1963496" y="20769"/>
                  </a:cubicBezTo>
                  <a:lnTo>
                    <a:pt x="1963496" y="891507"/>
                  </a:lnTo>
                  <a:cubicBezTo>
                    <a:pt x="1963496" y="902978"/>
                    <a:pt x="1954198" y="912276"/>
                    <a:pt x="1942727" y="912276"/>
                  </a:cubicBezTo>
                  <a:lnTo>
                    <a:pt x="20769" y="912276"/>
                  </a:lnTo>
                  <a:cubicBezTo>
                    <a:pt x="15261" y="912276"/>
                    <a:pt x="9978" y="910088"/>
                    <a:pt x="6083" y="906193"/>
                  </a:cubicBezTo>
                  <a:cubicBezTo>
                    <a:pt x="2188" y="902298"/>
                    <a:pt x="0" y="897015"/>
                    <a:pt x="0" y="891507"/>
                  </a:cubicBezTo>
                  <a:lnTo>
                    <a:pt x="0" y="20769"/>
                  </a:lnTo>
                  <a:cubicBezTo>
                    <a:pt x="0" y="15261"/>
                    <a:pt x="2188" y="9978"/>
                    <a:pt x="6083" y="6083"/>
                  </a:cubicBezTo>
                  <a:cubicBezTo>
                    <a:pt x="9978" y="2188"/>
                    <a:pt x="15261" y="0"/>
                    <a:pt x="20769"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8" id="8"/>
            <p:cNvSpPr txBox="true"/>
            <p:nvPr/>
          </p:nvSpPr>
          <p:spPr>
            <a:xfrm>
              <a:off x="0" y="-19050"/>
              <a:ext cx="1963496" cy="931326"/>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1166319" y="5794500"/>
            <a:ext cx="7455149" cy="3463800"/>
            <a:chOff x="0" y="0"/>
            <a:chExt cx="1963496" cy="912276"/>
          </a:xfrm>
        </p:grpSpPr>
        <p:sp>
          <p:nvSpPr>
            <p:cNvPr name="Freeform 10" id="10"/>
            <p:cNvSpPr/>
            <p:nvPr/>
          </p:nvSpPr>
          <p:spPr>
            <a:xfrm flipH="false" flipV="false" rot="0">
              <a:off x="0" y="0"/>
              <a:ext cx="1963496" cy="912276"/>
            </a:xfrm>
            <a:custGeom>
              <a:avLst/>
              <a:gdLst/>
              <a:ahLst/>
              <a:cxnLst/>
              <a:rect r="r" b="b" t="t" l="l"/>
              <a:pathLst>
                <a:path h="912276" w="1963496">
                  <a:moveTo>
                    <a:pt x="20769" y="0"/>
                  </a:moveTo>
                  <a:lnTo>
                    <a:pt x="1942727" y="0"/>
                  </a:lnTo>
                  <a:cubicBezTo>
                    <a:pt x="1948235" y="0"/>
                    <a:pt x="1953518" y="2188"/>
                    <a:pt x="1957413" y="6083"/>
                  </a:cubicBezTo>
                  <a:cubicBezTo>
                    <a:pt x="1961308" y="9978"/>
                    <a:pt x="1963496" y="15261"/>
                    <a:pt x="1963496" y="20769"/>
                  </a:cubicBezTo>
                  <a:lnTo>
                    <a:pt x="1963496" y="891507"/>
                  </a:lnTo>
                  <a:cubicBezTo>
                    <a:pt x="1963496" y="902978"/>
                    <a:pt x="1954198" y="912276"/>
                    <a:pt x="1942727" y="912276"/>
                  </a:cubicBezTo>
                  <a:lnTo>
                    <a:pt x="20769" y="912276"/>
                  </a:lnTo>
                  <a:cubicBezTo>
                    <a:pt x="15261" y="912276"/>
                    <a:pt x="9978" y="910088"/>
                    <a:pt x="6083" y="906193"/>
                  </a:cubicBezTo>
                  <a:cubicBezTo>
                    <a:pt x="2188" y="902298"/>
                    <a:pt x="0" y="897015"/>
                    <a:pt x="0" y="891507"/>
                  </a:cubicBezTo>
                  <a:lnTo>
                    <a:pt x="0" y="20769"/>
                  </a:lnTo>
                  <a:cubicBezTo>
                    <a:pt x="0" y="15261"/>
                    <a:pt x="2188" y="9978"/>
                    <a:pt x="6083" y="6083"/>
                  </a:cubicBezTo>
                  <a:cubicBezTo>
                    <a:pt x="9978" y="2188"/>
                    <a:pt x="15261" y="0"/>
                    <a:pt x="20769"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11" id="11"/>
            <p:cNvSpPr txBox="true"/>
            <p:nvPr/>
          </p:nvSpPr>
          <p:spPr>
            <a:xfrm>
              <a:off x="0" y="-19050"/>
              <a:ext cx="1963496" cy="931326"/>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10909124" y="6677405"/>
            <a:ext cx="8144356" cy="4461338"/>
            <a:chOff x="0" y="0"/>
            <a:chExt cx="1754646" cy="961165"/>
          </a:xfrm>
        </p:grpSpPr>
        <p:sp>
          <p:nvSpPr>
            <p:cNvPr name="Freeform 13" id="13"/>
            <p:cNvSpPr/>
            <p:nvPr/>
          </p:nvSpPr>
          <p:spPr>
            <a:xfrm flipH="false" flipV="false" rot="0">
              <a:off x="0" y="0"/>
              <a:ext cx="1754646" cy="961160"/>
            </a:xfrm>
            <a:custGeom>
              <a:avLst/>
              <a:gdLst/>
              <a:ahLst/>
              <a:cxnLst/>
              <a:rect r="r" b="b" t="t" l="l"/>
              <a:pathLst>
                <a:path h="961160" w="1754646">
                  <a:moveTo>
                    <a:pt x="965120" y="824850"/>
                  </a:moveTo>
                  <a:cubicBezTo>
                    <a:pt x="983327" y="804497"/>
                    <a:pt x="1009342" y="792864"/>
                    <a:pt x="1036650" y="792863"/>
                  </a:cubicBezTo>
                  <a:lnTo>
                    <a:pt x="1668381" y="793199"/>
                  </a:lnTo>
                  <a:cubicBezTo>
                    <a:pt x="1691256" y="793211"/>
                    <a:pt x="1713198" y="784133"/>
                    <a:pt x="1729377" y="767963"/>
                  </a:cubicBezTo>
                  <a:cubicBezTo>
                    <a:pt x="1745556" y="751792"/>
                    <a:pt x="1754646" y="729855"/>
                    <a:pt x="1754646" y="706981"/>
                  </a:cubicBezTo>
                  <a:lnTo>
                    <a:pt x="1754646" y="86219"/>
                  </a:lnTo>
                  <a:cubicBezTo>
                    <a:pt x="1754646" y="63352"/>
                    <a:pt x="1745562" y="41422"/>
                    <a:pt x="1729393" y="25253"/>
                  </a:cubicBezTo>
                  <a:cubicBezTo>
                    <a:pt x="1713224" y="9084"/>
                    <a:pt x="1691294" y="0"/>
                    <a:pt x="1668427" y="0"/>
                  </a:cubicBezTo>
                  <a:lnTo>
                    <a:pt x="303022" y="0"/>
                  </a:lnTo>
                  <a:cubicBezTo>
                    <a:pt x="278489" y="-1"/>
                    <a:pt x="255117" y="10450"/>
                    <a:pt x="238760" y="28735"/>
                  </a:cubicBezTo>
                  <a:lnTo>
                    <a:pt x="21960" y="271092"/>
                  </a:lnTo>
                  <a:cubicBezTo>
                    <a:pt x="7818" y="286900"/>
                    <a:pt x="0" y="307366"/>
                    <a:pt x="0" y="328576"/>
                  </a:cubicBezTo>
                  <a:lnTo>
                    <a:pt x="0" y="874947"/>
                  </a:lnTo>
                  <a:cubicBezTo>
                    <a:pt x="4" y="922562"/>
                    <a:pt x="38604" y="961160"/>
                    <a:pt x="86219" y="961160"/>
                  </a:cubicBezTo>
                  <a:lnTo>
                    <a:pt x="804624" y="961160"/>
                  </a:lnTo>
                  <a:cubicBezTo>
                    <a:pt x="829157" y="961161"/>
                    <a:pt x="852529" y="950710"/>
                    <a:pt x="868886" y="932425"/>
                  </a:cubicBezTo>
                  <a:close/>
                </a:path>
              </a:pathLst>
            </a:custGeom>
            <a:blipFill>
              <a:blip r:embed="rId6"/>
              <a:stretch>
                <a:fillRect l="0" t="-10907" r="0" b="-10907"/>
              </a:stretch>
            </a:blipFill>
          </p:spPr>
        </p:sp>
      </p:grpSp>
      <p:grpSp>
        <p:nvGrpSpPr>
          <p:cNvPr name="Group 14" id="14"/>
          <p:cNvGrpSpPr/>
          <p:nvPr/>
        </p:nvGrpSpPr>
        <p:grpSpPr>
          <a:xfrm rot="0">
            <a:off x="7855197" y="6254053"/>
            <a:ext cx="274777" cy="27477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6" id="16"/>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17" id="17"/>
          <p:cNvGrpSpPr/>
          <p:nvPr/>
        </p:nvGrpSpPr>
        <p:grpSpPr>
          <a:xfrm rot="0">
            <a:off x="7855197" y="2223033"/>
            <a:ext cx="274777" cy="27477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9" id="19"/>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
        <p:nvSpPr>
          <p:cNvPr name="TextBox 20" id="20"/>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21" id="21"/>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TextBox 22" id="22"/>
          <p:cNvSpPr txBox="true"/>
          <p:nvPr/>
        </p:nvSpPr>
        <p:spPr>
          <a:xfrm rot="0">
            <a:off x="10909124" y="4810886"/>
            <a:ext cx="5370138" cy="98361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Прототип развёрнут и работает: Docker на Debian VPS, HTTPS, бот в long polling. Проверяемые инварианты — сумма долей равна сумме покупки, балансы в режиме дележа сходятся в ноль.</a:t>
            </a:r>
          </a:p>
        </p:txBody>
      </p:sp>
      <p:sp>
        <p:nvSpPr>
          <p:cNvPr name="TextBox 23" id="23"/>
          <p:cNvSpPr txBox="true"/>
          <p:nvPr/>
        </p:nvSpPr>
        <p:spPr>
          <a:xfrm rot="0">
            <a:off x="5225889" y="2767626"/>
            <a:ext cx="3076525" cy="17265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коммита за 4 дня, история открыта — видно вклад каждого участника</a:t>
            </a:r>
          </a:p>
        </p:txBody>
      </p:sp>
      <p:sp>
        <p:nvSpPr>
          <p:cNvPr name="TextBox 24" id="24"/>
          <p:cNvSpPr txBox="true"/>
          <p:nvPr/>
        </p:nvSpPr>
        <p:spPr>
          <a:xfrm rot="0">
            <a:off x="1780882" y="7924460"/>
            <a:ext cx="5936927" cy="98361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набора автотестов проходят на боевом сервере: ядро расчётов, API, хендлеры бота и разметка сообщений</a:t>
            </a:r>
          </a:p>
        </p:txBody>
      </p:sp>
      <p:sp>
        <p:nvSpPr>
          <p:cNvPr name="TextBox 25" id="25"/>
          <p:cNvSpPr txBox="true"/>
          <p:nvPr/>
        </p:nvSpPr>
        <p:spPr>
          <a:xfrm rot="0">
            <a:off x="10909124" y="1891536"/>
            <a:ext cx="7139758" cy="2230755"/>
          </a:xfrm>
          <a:prstGeom prst="rect">
            <a:avLst/>
          </a:prstGeom>
        </p:spPr>
        <p:txBody>
          <a:bodyPr anchor="t" rtlCol="false" tIns="0" lIns="0" bIns="0" rIns="0">
            <a:spAutoFit/>
          </a:bodyPr>
          <a:lstStyle/>
          <a:p>
            <a:pPr algn="l">
              <a:lnSpc>
                <a:spcPts val="8460"/>
              </a:lnSpc>
            </a:pPr>
            <a:r>
              <a:rPr lang="en-US" sz="6600" spc="-422" b="true">
                <a:solidFill>
                  <a:srgbClr val="FFFFFF"/>
                </a:solidFill>
                <a:latin typeface="Hagrid Medium"/>
                <a:ea typeface="Hagrid Medium"/>
                <a:cs typeface="Hagrid Medium"/>
                <a:sym typeface="Hagrid Medium"/>
              </a:rPr>
              <a:t>Техническая
реализация</a:t>
            </a:r>
          </a:p>
        </p:txBody>
      </p:sp>
      <p:sp>
        <p:nvSpPr>
          <p:cNvPr name="TextBox 26" id="26"/>
          <p:cNvSpPr txBox="true"/>
          <p:nvPr/>
        </p:nvSpPr>
        <p:spPr>
          <a:xfrm rot="0">
            <a:off x="1485373" y="3070090"/>
            <a:ext cx="4233094" cy="1416913"/>
          </a:xfrm>
          <a:prstGeom prst="rect">
            <a:avLst/>
          </a:prstGeom>
        </p:spPr>
        <p:txBody>
          <a:bodyPr anchor="t" rtlCol="false" tIns="0" lIns="0" bIns="0" rIns="0">
            <a:spAutoFit/>
          </a:bodyPr>
          <a:lstStyle/>
          <a:p>
            <a:pPr algn="l" marL="0" indent="0" lvl="0">
              <a:lnSpc>
                <a:spcPts val="10340"/>
              </a:lnSpc>
              <a:spcBef>
                <a:spcPct val="0"/>
              </a:spcBef>
            </a:pPr>
            <a:r>
              <a:rPr lang="en-US" b="true" sz="11000" spc="-517" strike="noStrike" u="none">
                <a:solidFill>
                  <a:srgbClr val="FFFFFF"/>
                </a:solidFill>
                <a:latin typeface="Hagrid Medium"/>
                <a:ea typeface="Hagrid Medium"/>
                <a:cs typeface="Hagrid Medium"/>
                <a:sym typeface="Hagrid Medium"/>
              </a:rPr>
              <a:t>83</a:t>
            </a:r>
          </a:p>
        </p:txBody>
      </p:sp>
      <p:sp>
        <p:nvSpPr>
          <p:cNvPr name="TextBox 27" id="27"/>
          <p:cNvSpPr txBox="true"/>
          <p:nvPr/>
        </p:nvSpPr>
        <p:spPr>
          <a:xfrm rot="0">
            <a:off x="1780882" y="6391936"/>
            <a:ext cx="5936927" cy="1410971"/>
          </a:xfrm>
          <a:prstGeom prst="rect">
            <a:avLst/>
          </a:prstGeom>
        </p:spPr>
        <p:txBody>
          <a:bodyPr anchor="t" rtlCol="false" tIns="0" lIns="0" bIns="0" rIns="0">
            <a:spAutoFit/>
          </a:bodyPr>
          <a:lstStyle/>
          <a:p>
            <a:pPr algn="l">
              <a:lnSpc>
                <a:spcPts val="10340"/>
              </a:lnSpc>
            </a:pPr>
            <a:r>
              <a:rPr lang="en-US" sz="11000" spc="-517" b="true">
                <a:solidFill>
                  <a:srgbClr val="FFFFFF"/>
                </a:solidFill>
                <a:latin typeface="Hagrid Medium"/>
                <a:ea typeface="Hagrid Medium"/>
                <a:cs typeface="Hagrid Medium"/>
                <a:sym typeface="Hagrid Medium"/>
              </a:rPr>
              <a:t>4/4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14448" y="5476146"/>
            <a:ext cx="11359122" cy="11359122"/>
          </a:xfrm>
          <a:custGeom>
            <a:avLst/>
            <a:gdLst/>
            <a:ahLst/>
            <a:cxnLst/>
            <a:rect r="r" b="b" t="t" l="l"/>
            <a:pathLst>
              <a:path h="11359122" w="11359122">
                <a:moveTo>
                  <a:pt x="0" y="0"/>
                </a:moveTo>
                <a:lnTo>
                  <a:pt x="11359123" y="0"/>
                </a:lnTo>
                <a:lnTo>
                  <a:pt x="11359123" y="11359122"/>
                </a:lnTo>
                <a:lnTo>
                  <a:pt x="0" y="11359122"/>
                </a:lnTo>
                <a:lnTo>
                  <a:pt x="0" y="0"/>
                </a:lnTo>
                <a:close/>
              </a:path>
            </a:pathLst>
          </a:custGeom>
          <a:blipFill>
            <a:blip r:embed="rId4">
              <a:alphaModFix amt="65000"/>
            </a:blip>
            <a:stretch>
              <a:fillRect l="0" t="0" r="0" b="0"/>
            </a:stretch>
          </a:blipFill>
        </p:spPr>
      </p:sp>
      <p:sp>
        <p:nvSpPr>
          <p:cNvPr name="Freeform 4" id="4"/>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sp>
        <p:nvSpPr>
          <p:cNvPr name="Freeform 5" id="5"/>
          <p:cNvSpPr/>
          <p:nvPr/>
        </p:nvSpPr>
        <p:spPr>
          <a:xfrm flipH="false" flipV="false" rot="0">
            <a:off x="-3050621" y="7583229"/>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sp>
        <p:nvSpPr>
          <p:cNvPr name="TextBox 12" id="12"/>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13" id="13"/>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TextBox 14" id="14"/>
          <p:cNvSpPr txBox="true"/>
          <p:nvPr/>
        </p:nvSpPr>
        <p:spPr>
          <a:xfrm rot="0">
            <a:off x="1188720" y="3291840"/>
            <a:ext cx="4023360"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БЫЛО · 5+ действий</a:t>
            </a:r>
          </a:p>
        </p:txBody>
      </p:sp>
      <p:sp>
        <p:nvSpPr>
          <p:cNvPr name="TextBox 15" id="15"/>
          <p:cNvSpPr txBox="true"/>
          <p:nvPr/>
        </p:nvSpPr>
        <p:spPr>
          <a:xfrm rot="0">
            <a:off x="1188720" y="6309360"/>
            <a:ext cx="4023360"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СТАЛО · 1 действие</a:t>
            </a:r>
          </a:p>
        </p:txBody>
      </p:sp>
      <p:sp>
        <p:nvSpPr>
          <p:cNvPr name="TextBox 16" id="16"/>
          <p:cNvSpPr txBox="true"/>
          <p:nvPr/>
        </p:nvSpPr>
        <p:spPr>
          <a:xfrm rot="0">
            <a:off x="1188720" y="3931920"/>
            <a:ext cx="4023360"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Открыть Excel, найти строку, посчитать доли, разнести по участникам, написать в чат — и надеяться, что никто не ошибся.</a:t>
            </a:r>
          </a:p>
        </p:txBody>
      </p:sp>
      <p:sp>
        <p:nvSpPr>
          <p:cNvPr name="TextBox 17" id="17"/>
          <p:cNvSpPr txBox="true"/>
          <p:nvPr/>
        </p:nvSpPr>
        <p:spPr>
          <a:xfrm rot="0">
            <a:off x="1188720" y="6949440"/>
            <a:ext cx="4023360"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«молоко хлеб 850» боту или голосом. Категория, доли и балансы посчитаны, диаграмма обновлена.</a:t>
            </a:r>
          </a:p>
        </p:txBody>
      </p:sp>
      <p:sp>
        <p:nvSpPr>
          <p:cNvPr name="TextBox 18" id="18"/>
          <p:cNvSpPr txBox="true"/>
          <p:nvPr/>
        </p:nvSpPr>
        <p:spPr>
          <a:xfrm rot="0">
            <a:off x="1188720" y="1737360"/>
            <a:ext cx="4572000" cy="2230755"/>
          </a:xfrm>
          <a:prstGeom prst="rect">
            <a:avLst/>
          </a:prstGeom>
        </p:spPr>
        <p:txBody>
          <a:bodyPr anchor="t" rtlCol="false" tIns="0" lIns="0" bIns="0" rIns="0">
            <a:spAutoFit/>
          </a:bodyPr>
          <a:lstStyle/>
          <a:p>
            <a:pPr algn="l">
              <a:lnSpc>
                <a:spcPts val="8460"/>
              </a:lnSpc>
            </a:pPr>
            <a:r>
              <a:rPr lang="en-US" sz="7200" spc="-422" b="true">
                <a:solidFill>
                  <a:srgbClr val="FFFFFF"/>
                </a:solidFill>
                <a:latin typeface="Hagrid Medium"/>
                <a:ea typeface="Hagrid Medium"/>
                <a:cs typeface="Hagrid Medium"/>
                <a:sym typeface="Hagrid Medium"/>
              </a:rPr>
              <a:t>Опыт</a:t>
            </a:r>
          </a:p>
        </p:txBody>
      </p:sp>
      <p:pic>
        <p:nvPicPr>
          <p:cNvPr id="19" name="Picture 18" descr="screens.png"/>
          <p:cNvPicPr>
            <a:picLocks noChangeAspect="1"/>
          </p:cNvPicPr>
          <p:nvPr/>
        </p:nvPicPr>
        <p:blipFill>
          <a:blip r:embed="rId6"/>
          <a:stretch>
            <a:fillRect/>
          </a:stretch>
        </p:blipFill>
        <p:spPr>
          <a:xfrm>
            <a:off x="5852160" y="1371600"/>
            <a:ext cx="11887200" cy="8156181"/>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6273680"/>
            <a:ext cx="274777" cy="27477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5" id="5"/>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
        <p:nvSpPr>
          <p:cNvPr name="Freeform 6" id="6"/>
          <p:cNvSpPr/>
          <p:nvPr/>
        </p:nvSpPr>
        <p:spPr>
          <a:xfrm flipH="false" flipV="false" rot="0">
            <a:off x="13548062" y="5765902"/>
            <a:ext cx="11359122" cy="11359122"/>
          </a:xfrm>
          <a:custGeom>
            <a:avLst/>
            <a:gdLst/>
            <a:ahLst/>
            <a:cxnLst/>
            <a:rect r="r" b="b" t="t" l="l"/>
            <a:pathLst>
              <a:path h="11359122" w="11359122">
                <a:moveTo>
                  <a:pt x="0" y="0"/>
                </a:moveTo>
                <a:lnTo>
                  <a:pt x="11359123" y="0"/>
                </a:lnTo>
                <a:lnTo>
                  <a:pt x="11359123" y="11359123"/>
                </a:lnTo>
                <a:lnTo>
                  <a:pt x="0" y="11359123"/>
                </a:lnTo>
                <a:lnTo>
                  <a:pt x="0" y="0"/>
                </a:lnTo>
                <a:close/>
              </a:path>
            </a:pathLst>
          </a:custGeom>
          <a:blipFill>
            <a:blip r:embed="rId4">
              <a:alphaModFix amt="65000"/>
            </a:blip>
            <a:stretch>
              <a:fillRect l="0" t="0" r="0" b="0"/>
            </a:stretch>
          </a:blipFill>
        </p:spPr>
      </p:sp>
      <p:sp>
        <p:nvSpPr>
          <p:cNvPr name="Freeform 7" id="7"/>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grpSp>
        <p:nvGrpSpPr>
          <p:cNvPr name="Group 8" id="8"/>
          <p:cNvGrpSpPr/>
          <p:nvPr/>
        </p:nvGrpSpPr>
        <p:grpSpPr>
          <a:xfrm rot="0">
            <a:off x="6543823" y="6273680"/>
            <a:ext cx="274777" cy="2747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0" id="10"/>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11" id="11"/>
          <p:cNvGrpSpPr/>
          <p:nvPr/>
        </p:nvGrpSpPr>
        <p:grpSpPr>
          <a:xfrm rot="0">
            <a:off x="11586192" y="3494956"/>
            <a:ext cx="4687572" cy="5763344"/>
            <a:chOff x="0" y="0"/>
            <a:chExt cx="1234587" cy="1517918"/>
          </a:xfrm>
        </p:grpSpPr>
        <p:sp>
          <p:nvSpPr>
            <p:cNvPr name="Freeform 12" id="12"/>
            <p:cNvSpPr/>
            <p:nvPr/>
          </p:nvSpPr>
          <p:spPr>
            <a:xfrm flipH="false" flipV="false" rot="0">
              <a:off x="0" y="0"/>
              <a:ext cx="1234587" cy="1517918"/>
            </a:xfrm>
            <a:custGeom>
              <a:avLst/>
              <a:gdLst/>
              <a:ahLst/>
              <a:cxnLst/>
              <a:rect r="r" b="b" t="t" l="l"/>
              <a:pathLst>
                <a:path h="1517918" w="1234587">
                  <a:moveTo>
                    <a:pt x="33032" y="0"/>
                  </a:moveTo>
                  <a:lnTo>
                    <a:pt x="1201555" y="0"/>
                  </a:lnTo>
                  <a:cubicBezTo>
                    <a:pt x="1210316" y="0"/>
                    <a:pt x="1218718" y="3480"/>
                    <a:pt x="1224912" y="9675"/>
                  </a:cubicBezTo>
                  <a:cubicBezTo>
                    <a:pt x="1231107" y="15869"/>
                    <a:pt x="1234587" y="24271"/>
                    <a:pt x="1234587" y="33032"/>
                  </a:cubicBezTo>
                  <a:lnTo>
                    <a:pt x="1234587" y="1484886"/>
                  </a:lnTo>
                  <a:cubicBezTo>
                    <a:pt x="1234587" y="1493647"/>
                    <a:pt x="1231107" y="1502049"/>
                    <a:pt x="1224912" y="1508243"/>
                  </a:cubicBezTo>
                  <a:cubicBezTo>
                    <a:pt x="1218718" y="1514438"/>
                    <a:pt x="1210316" y="1517918"/>
                    <a:pt x="1201555" y="1517918"/>
                  </a:cubicBezTo>
                  <a:lnTo>
                    <a:pt x="33032" y="1517918"/>
                  </a:lnTo>
                  <a:cubicBezTo>
                    <a:pt x="24271" y="1517918"/>
                    <a:pt x="15869" y="1514438"/>
                    <a:pt x="9675" y="1508243"/>
                  </a:cubicBezTo>
                  <a:cubicBezTo>
                    <a:pt x="3480" y="1502049"/>
                    <a:pt x="0" y="1493647"/>
                    <a:pt x="0" y="1484886"/>
                  </a:cubicBezTo>
                  <a:lnTo>
                    <a:pt x="0" y="33032"/>
                  </a:lnTo>
                  <a:cubicBezTo>
                    <a:pt x="0" y="24271"/>
                    <a:pt x="3480" y="15869"/>
                    <a:pt x="9675" y="9675"/>
                  </a:cubicBezTo>
                  <a:cubicBezTo>
                    <a:pt x="15869" y="3480"/>
                    <a:pt x="24271" y="0"/>
                    <a:pt x="33032"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13" id="13"/>
            <p:cNvSpPr txBox="true"/>
            <p:nvPr/>
          </p:nvSpPr>
          <p:spPr>
            <a:xfrm>
              <a:off x="0" y="-19050"/>
              <a:ext cx="1234587" cy="1536968"/>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11981334" y="3877927"/>
            <a:ext cx="274777" cy="27477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6" id="16"/>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
        <p:nvSpPr>
          <p:cNvPr name="TextBox 17" id="17"/>
          <p:cNvSpPr txBox="true"/>
          <p:nvPr/>
        </p:nvSpPr>
        <p:spPr>
          <a:xfrm rot="0">
            <a:off x="1906760" y="650408"/>
            <a:ext cx="1720589" cy="587954"/>
          </a:xfrm>
          <a:prstGeom prst="rect">
            <a:avLst/>
          </a:prstGeom>
        </p:spPr>
        <p:txBody>
          <a:bodyPr anchor="t" rtlCol="false" tIns="0" lIns="0" bIns="0" rIns="0">
            <a:spAutoFit/>
          </a:bodyPr>
          <a:lstStyle/>
          <a:p>
            <a:pPr algn="l">
              <a:lnSpc>
                <a:spcPts val="4868"/>
              </a:lnSpc>
            </a:pPr>
            <a:r>
              <a:rPr lang="en-US" b="true" sz="3477" spc="-163">
                <a:solidFill>
                  <a:srgbClr val="FFFFF8"/>
                </a:solidFill>
                <a:latin typeface="DM Sans Bold"/>
                <a:ea typeface="DM Sans Bold"/>
                <a:cs typeface="DM Sans Bold"/>
                <a:sym typeface="DM Sans Bold"/>
              </a:rPr>
              <a:t>Salford</a:t>
            </a:r>
          </a:p>
        </p:txBody>
      </p:sp>
      <p:sp>
        <p:nvSpPr>
          <p:cNvPr name="TextBox 18" id="18"/>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October 2025</a:t>
            </a:r>
          </a:p>
        </p:txBody>
      </p:sp>
      <p:sp>
        <p:nvSpPr>
          <p:cNvPr name="TextBox 19" id="19"/>
          <p:cNvSpPr txBox="true"/>
          <p:nvPr/>
        </p:nvSpPr>
        <p:spPr>
          <a:xfrm rot="0">
            <a:off x="1028700" y="1994983"/>
            <a:ext cx="9075401" cy="3307080"/>
          </a:xfrm>
          <a:prstGeom prst="rect">
            <a:avLst/>
          </a:prstGeom>
        </p:spPr>
        <p:txBody>
          <a:bodyPr anchor="t" rtlCol="false" tIns="0" lIns="0" bIns="0" rIns="0">
            <a:spAutoFit/>
          </a:bodyPr>
          <a:lstStyle/>
          <a:p>
            <a:pPr algn="l">
              <a:lnSpc>
                <a:spcPts val="8460"/>
              </a:lnSpc>
            </a:pPr>
            <a:r>
              <a:rPr lang="en-US" sz="9000" spc="-422" b="true">
                <a:solidFill>
                  <a:srgbClr val="FFFFFF"/>
                </a:solidFill>
                <a:latin typeface="Hagrid Medium"/>
                <a:ea typeface="Hagrid Medium"/>
                <a:cs typeface="Hagrid Medium"/>
                <a:sym typeface="Hagrid Medium"/>
              </a:rPr>
              <a:t>Key Competitive Advantages</a:t>
            </a:r>
          </a:p>
        </p:txBody>
      </p:sp>
      <p:sp>
        <p:nvSpPr>
          <p:cNvPr name="TextBox 20" id="20"/>
          <p:cNvSpPr txBox="true"/>
          <p:nvPr/>
        </p:nvSpPr>
        <p:spPr>
          <a:xfrm rot="0">
            <a:off x="1547487" y="62158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ADVANTAGE 1</a:t>
            </a:r>
          </a:p>
        </p:txBody>
      </p:sp>
      <p:sp>
        <p:nvSpPr>
          <p:cNvPr name="TextBox 21" id="21"/>
          <p:cNvSpPr txBox="true"/>
          <p:nvPr/>
        </p:nvSpPr>
        <p:spPr>
          <a:xfrm rot="0">
            <a:off x="7066249" y="6215806"/>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ADVANTAGE 2</a:t>
            </a:r>
          </a:p>
        </p:txBody>
      </p:sp>
      <p:sp>
        <p:nvSpPr>
          <p:cNvPr name="TextBox 22" id="22"/>
          <p:cNvSpPr txBox="true"/>
          <p:nvPr/>
        </p:nvSpPr>
        <p:spPr>
          <a:xfrm rot="0">
            <a:off x="12503761" y="3820053"/>
            <a:ext cx="3520737"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ADVANTAGE 3</a:t>
            </a:r>
          </a:p>
        </p:txBody>
      </p:sp>
      <p:sp>
        <p:nvSpPr>
          <p:cNvPr name="TextBox 23" id="23"/>
          <p:cNvSpPr txBox="true"/>
          <p:nvPr/>
        </p:nvSpPr>
        <p:spPr>
          <a:xfrm rot="0">
            <a:off x="1028700" y="70364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4" id="24"/>
          <p:cNvSpPr txBox="true"/>
          <p:nvPr/>
        </p:nvSpPr>
        <p:spPr>
          <a:xfrm rot="0">
            <a:off x="6543823" y="7036435"/>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5" id="25"/>
          <p:cNvSpPr txBox="true"/>
          <p:nvPr/>
        </p:nvSpPr>
        <p:spPr>
          <a:xfrm rot="0">
            <a:off x="11981334" y="4640682"/>
            <a:ext cx="3897288" cy="22218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6" id="26"/>
          <p:cNvSpPr txBox="true"/>
          <p:nvPr/>
        </p:nvSpPr>
        <p:spPr>
          <a:xfrm rot="0">
            <a:off x="11981334" y="7115157"/>
            <a:ext cx="3897288" cy="17265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14448" y="5476146"/>
            <a:ext cx="11359122" cy="11359122"/>
          </a:xfrm>
          <a:custGeom>
            <a:avLst/>
            <a:gdLst/>
            <a:ahLst/>
            <a:cxnLst/>
            <a:rect r="r" b="b" t="t" l="l"/>
            <a:pathLst>
              <a:path h="11359122" w="11359122">
                <a:moveTo>
                  <a:pt x="0" y="0"/>
                </a:moveTo>
                <a:lnTo>
                  <a:pt x="11359123" y="0"/>
                </a:lnTo>
                <a:lnTo>
                  <a:pt x="11359123" y="11359122"/>
                </a:lnTo>
                <a:lnTo>
                  <a:pt x="0" y="11359122"/>
                </a:lnTo>
                <a:lnTo>
                  <a:pt x="0" y="0"/>
                </a:lnTo>
                <a:close/>
              </a:path>
            </a:pathLst>
          </a:custGeom>
          <a:blipFill>
            <a:blip r:embed="rId4">
              <a:alphaModFix amt="65000"/>
            </a:blip>
            <a:stretch>
              <a:fillRect l="0" t="0" r="0" b="0"/>
            </a:stretch>
          </a:blipFill>
        </p:spPr>
      </p:sp>
      <p:sp>
        <p:nvSpPr>
          <p:cNvPr name="Freeform 4" id="4"/>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grpSp>
        <p:nvGrpSpPr>
          <p:cNvPr name="Group 8" id="8"/>
          <p:cNvGrpSpPr/>
          <p:nvPr/>
        </p:nvGrpSpPr>
        <p:grpSpPr>
          <a:xfrm rot="0">
            <a:off x="10909124" y="6677405"/>
            <a:ext cx="8144356" cy="4461338"/>
            <a:chOff x="0" y="0"/>
            <a:chExt cx="1754646" cy="961165"/>
          </a:xfrm>
        </p:grpSpPr>
        <p:sp>
          <p:nvSpPr>
            <p:cNvPr name="Freeform 9" id="9"/>
            <p:cNvSpPr/>
            <p:nvPr/>
          </p:nvSpPr>
          <p:spPr>
            <a:xfrm flipH="false" flipV="false" rot="0">
              <a:off x="0" y="0"/>
              <a:ext cx="1754646" cy="961160"/>
            </a:xfrm>
            <a:custGeom>
              <a:avLst/>
              <a:gdLst/>
              <a:ahLst/>
              <a:cxnLst/>
              <a:rect r="r" b="b" t="t" l="l"/>
              <a:pathLst>
                <a:path h="961160" w="1754646">
                  <a:moveTo>
                    <a:pt x="965120" y="824850"/>
                  </a:moveTo>
                  <a:cubicBezTo>
                    <a:pt x="983327" y="804497"/>
                    <a:pt x="1009342" y="792864"/>
                    <a:pt x="1036650" y="792863"/>
                  </a:cubicBezTo>
                  <a:lnTo>
                    <a:pt x="1668381" y="793199"/>
                  </a:lnTo>
                  <a:cubicBezTo>
                    <a:pt x="1691256" y="793211"/>
                    <a:pt x="1713198" y="784133"/>
                    <a:pt x="1729377" y="767963"/>
                  </a:cubicBezTo>
                  <a:cubicBezTo>
                    <a:pt x="1745556" y="751792"/>
                    <a:pt x="1754646" y="729855"/>
                    <a:pt x="1754646" y="706981"/>
                  </a:cubicBezTo>
                  <a:lnTo>
                    <a:pt x="1754646" y="86219"/>
                  </a:lnTo>
                  <a:cubicBezTo>
                    <a:pt x="1754646" y="63352"/>
                    <a:pt x="1745562" y="41422"/>
                    <a:pt x="1729393" y="25253"/>
                  </a:cubicBezTo>
                  <a:cubicBezTo>
                    <a:pt x="1713224" y="9084"/>
                    <a:pt x="1691294" y="0"/>
                    <a:pt x="1668427" y="0"/>
                  </a:cubicBezTo>
                  <a:lnTo>
                    <a:pt x="303022" y="0"/>
                  </a:lnTo>
                  <a:cubicBezTo>
                    <a:pt x="278489" y="-1"/>
                    <a:pt x="255117" y="10450"/>
                    <a:pt x="238760" y="28735"/>
                  </a:cubicBezTo>
                  <a:lnTo>
                    <a:pt x="21960" y="271092"/>
                  </a:lnTo>
                  <a:cubicBezTo>
                    <a:pt x="7818" y="286900"/>
                    <a:pt x="0" y="307366"/>
                    <a:pt x="0" y="328576"/>
                  </a:cubicBezTo>
                  <a:lnTo>
                    <a:pt x="0" y="874947"/>
                  </a:lnTo>
                  <a:cubicBezTo>
                    <a:pt x="4" y="922562"/>
                    <a:pt x="38604" y="961160"/>
                    <a:pt x="86219" y="961160"/>
                  </a:cubicBezTo>
                  <a:lnTo>
                    <a:pt x="804624" y="961160"/>
                  </a:lnTo>
                  <a:cubicBezTo>
                    <a:pt x="829157" y="961161"/>
                    <a:pt x="852529" y="950710"/>
                    <a:pt x="868886" y="932425"/>
                  </a:cubicBezTo>
                  <a:close/>
                </a:path>
              </a:pathLst>
            </a:custGeom>
            <a:blipFill>
              <a:blip r:embed="rId6"/>
              <a:stretch>
                <a:fillRect l="0" t="-1343" r="0" b="-1343"/>
              </a:stretch>
            </a:blipFill>
          </p:spPr>
        </p:sp>
      </p:grpSp>
      <p:grpSp>
        <p:nvGrpSpPr>
          <p:cNvPr name="Group 10" id="10"/>
          <p:cNvGrpSpPr/>
          <p:nvPr/>
        </p:nvGrpSpPr>
        <p:grpSpPr>
          <a:xfrm rot="0">
            <a:off x="7855197" y="2223033"/>
            <a:ext cx="274777" cy="274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12" id="12"/>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
        <p:nvSpPr>
          <p:cNvPr name="TextBox 14" id="14"/>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15" id="15"/>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TextBox 16" id="16"/>
          <p:cNvSpPr txBox="true"/>
          <p:nvPr/>
        </p:nvSpPr>
        <p:spPr>
          <a:xfrm rot="0">
            <a:off x="10909124" y="4106883"/>
            <a:ext cx="5370138" cy="147891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github.com/yaskorinov/budget-management-system
83 коммита · 6 участников · 4 дня
12,6 тыс. строк кода, из них 1,7 тыс. — автотесты
README с разбором архитектуры и запуском одной командой</a:t>
            </a:r>
          </a:p>
        </p:txBody>
      </p:sp>
      <p:sp>
        <p:nvSpPr>
          <p:cNvPr name="TextBox 17" id="17"/>
          <p:cNvSpPr txBox="true"/>
          <p:nvPr/>
        </p:nvSpPr>
        <p:spPr>
          <a:xfrm rot="0">
            <a:off x="10909124" y="2335713"/>
            <a:ext cx="7139758" cy="1154430"/>
          </a:xfrm>
          <a:prstGeom prst="rect">
            <a:avLst/>
          </a:prstGeom>
        </p:spPr>
        <p:txBody>
          <a:bodyPr anchor="t" rtlCol="false" tIns="0" lIns="0" bIns="0" rIns="0">
            <a:spAutoFit/>
          </a:bodyPr>
          <a:lstStyle/>
          <a:p>
            <a:pPr algn="l">
              <a:lnSpc>
                <a:spcPts val="8460"/>
              </a:lnSpc>
            </a:pPr>
            <a:r>
              <a:rPr lang="en-US" sz="7200" spc="-422" b="true">
                <a:solidFill>
                  <a:srgbClr val="FFFFFF"/>
                </a:solidFill>
                <a:latin typeface="Hagrid Medium"/>
                <a:ea typeface="Hagrid Medium"/>
                <a:cs typeface="Hagrid Medium"/>
                <a:sym typeface="Hagrid Medium"/>
              </a:rPr>
              <a:t>Репозиторий</a:t>
            </a:r>
          </a:p>
        </p:txBody>
      </p:sp>
      <p:pic>
        <p:nvPicPr>
          <p:cNvPr id="18" name="Picture 17" descr="qr.png"/>
          <p:cNvPicPr>
            <a:picLocks noChangeAspect="1"/>
          </p:cNvPicPr>
          <p:nvPr/>
        </p:nvPicPr>
        <p:blipFill>
          <a:blip r:embed="rId8"/>
          <a:stretch>
            <a:fillRect/>
          </a:stretch>
        </p:blipFill>
        <p:spPr>
          <a:xfrm>
            <a:off x="2377440" y="2377440"/>
            <a:ext cx="5669280" cy="566928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66937" y="6495752"/>
            <a:ext cx="5026442" cy="2616146"/>
            <a:chOff x="0" y="0"/>
            <a:chExt cx="1323837" cy="689026"/>
          </a:xfrm>
        </p:grpSpPr>
        <p:sp>
          <p:nvSpPr>
            <p:cNvPr name="Freeform 4" id="4"/>
            <p:cNvSpPr/>
            <p:nvPr/>
          </p:nvSpPr>
          <p:spPr>
            <a:xfrm flipH="false" flipV="false" rot="0">
              <a:off x="0" y="0"/>
              <a:ext cx="1323837" cy="689026"/>
            </a:xfrm>
            <a:custGeom>
              <a:avLst/>
              <a:gdLst/>
              <a:ahLst/>
              <a:cxnLst/>
              <a:rect r="r" b="b" t="t" l="l"/>
              <a:pathLst>
                <a:path h="689026" w="1323837">
                  <a:moveTo>
                    <a:pt x="30805" y="0"/>
                  </a:moveTo>
                  <a:lnTo>
                    <a:pt x="1293032" y="0"/>
                  </a:lnTo>
                  <a:cubicBezTo>
                    <a:pt x="1301202" y="0"/>
                    <a:pt x="1309037" y="3245"/>
                    <a:pt x="1314814" y="9023"/>
                  </a:cubicBezTo>
                  <a:cubicBezTo>
                    <a:pt x="1320591" y="14800"/>
                    <a:pt x="1323837" y="22635"/>
                    <a:pt x="1323837" y="30805"/>
                  </a:cubicBezTo>
                  <a:lnTo>
                    <a:pt x="1323837" y="658221"/>
                  </a:lnTo>
                  <a:cubicBezTo>
                    <a:pt x="1323837" y="675234"/>
                    <a:pt x="1310045" y="689026"/>
                    <a:pt x="1293032" y="689026"/>
                  </a:cubicBezTo>
                  <a:lnTo>
                    <a:pt x="30805" y="689026"/>
                  </a:lnTo>
                  <a:cubicBezTo>
                    <a:pt x="13792" y="689026"/>
                    <a:pt x="0" y="675234"/>
                    <a:pt x="0" y="658221"/>
                  </a:cubicBezTo>
                  <a:lnTo>
                    <a:pt x="0" y="30805"/>
                  </a:lnTo>
                  <a:cubicBezTo>
                    <a:pt x="0" y="22635"/>
                    <a:pt x="3245" y="14800"/>
                    <a:pt x="9023" y="9023"/>
                  </a:cubicBezTo>
                  <a:cubicBezTo>
                    <a:pt x="14800" y="3245"/>
                    <a:pt x="22635" y="0"/>
                    <a:pt x="30805"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5" id="5"/>
            <p:cNvSpPr txBox="true"/>
            <p:nvPr/>
          </p:nvSpPr>
          <p:spPr>
            <a:xfrm>
              <a:off x="0" y="-19050"/>
              <a:ext cx="1323837" cy="708076"/>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13809146" y="5648652"/>
            <a:ext cx="11359122" cy="11359122"/>
          </a:xfrm>
          <a:custGeom>
            <a:avLst/>
            <a:gdLst/>
            <a:ahLst/>
            <a:cxnLst/>
            <a:rect r="r" b="b" t="t" l="l"/>
            <a:pathLst>
              <a:path h="11359122" w="11359122">
                <a:moveTo>
                  <a:pt x="0" y="0"/>
                </a:moveTo>
                <a:lnTo>
                  <a:pt x="11359122" y="0"/>
                </a:lnTo>
                <a:lnTo>
                  <a:pt x="11359122" y="11359122"/>
                </a:lnTo>
                <a:lnTo>
                  <a:pt x="0" y="11359122"/>
                </a:lnTo>
                <a:lnTo>
                  <a:pt x="0" y="0"/>
                </a:lnTo>
                <a:close/>
              </a:path>
            </a:pathLst>
          </a:custGeom>
          <a:blipFill>
            <a:blip r:embed="rId4">
              <a:alphaModFix amt="65000"/>
            </a:blip>
            <a:stretch>
              <a:fillRect l="0" t="0" r="0" b="0"/>
            </a:stretch>
          </a:blipFill>
        </p:spPr>
      </p:sp>
      <p:sp>
        <p:nvSpPr>
          <p:cNvPr name="Freeform 7" id="7"/>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grpSp>
        <p:nvGrpSpPr>
          <p:cNvPr name="Group 8" id="8"/>
          <p:cNvGrpSpPr/>
          <p:nvPr/>
        </p:nvGrpSpPr>
        <p:grpSpPr>
          <a:xfrm rot="0">
            <a:off x="6621593" y="6495752"/>
            <a:ext cx="5026442" cy="2616146"/>
            <a:chOff x="0" y="0"/>
            <a:chExt cx="1323837" cy="689026"/>
          </a:xfrm>
        </p:grpSpPr>
        <p:sp>
          <p:nvSpPr>
            <p:cNvPr name="Freeform 9" id="9"/>
            <p:cNvSpPr/>
            <p:nvPr/>
          </p:nvSpPr>
          <p:spPr>
            <a:xfrm flipH="false" flipV="false" rot="0">
              <a:off x="0" y="0"/>
              <a:ext cx="1323837" cy="689026"/>
            </a:xfrm>
            <a:custGeom>
              <a:avLst/>
              <a:gdLst/>
              <a:ahLst/>
              <a:cxnLst/>
              <a:rect r="r" b="b" t="t" l="l"/>
              <a:pathLst>
                <a:path h="689026" w="1323837">
                  <a:moveTo>
                    <a:pt x="30805" y="0"/>
                  </a:moveTo>
                  <a:lnTo>
                    <a:pt x="1293032" y="0"/>
                  </a:lnTo>
                  <a:cubicBezTo>
                    <a:pt x="1301202" y="0"/>
                    <a:pt x="1309037" y="3245"/>
                    <a:pt x="1314814" y="9023"/>
                  </a:cubicBezTo>
                  <a:cubicBezTo>
                    <a:pt x="1320591" y="14800"/>
                    <a:pt x="1323837" y="22635"/>
                    <a:pt x="1323837" y="30805"/>
                  </a:cubicBezTo>
                  <a:lnTo>
                    <a:pt x="1323837" y="658221"/>
                  </a:lnTo>
                  <a:cubicBezTo>
                    <a:pt x="1323837" y="675234"/>
                    <a:pt x="1310045" y="689026"/>
                    <a:pt x="1293032" y="689026"/>
                  </a:cubicBezTo>
                  <a:lnTo>
                    <a:pt x="30805" y="689026"/>
                  </a:lnTo>
                  <a:cubicBezTo>
                    <a:pt x="13792" y="689026"/>
                    <a:pt x="0" y="675234"/>
                    <a:pt x="0" y="658221"/>
                  </a:cubicBezTo>
                  <a:lnTo>
                    <a:pt x="0" y="30805"/>
                  </a:lnTo>
                  <a:cubicBezTo>
                    <a:pt x="0" y="22635"/>
                    <a:pt x="3245" y="14800"/>
                    <a:pt x="9023" y="9023"/>
                  </a:cubicBezTo>
                  <a:cubicBezTo>
                    <a:pt x="14800" y="3245"/>
                    <a:pt x="22635" y="0"/>
                    <a:pt x="30805"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10" id="10"/>
            <p:cNvSpPr txBox="true"/>
            <p:nvPr/>
          </p:nvSpPr>
          <p:spPr>
            <a:xfrm>
              <a:off x="0" y="-19050"/>
              <a:ext cx="1323837" cy="708076"/>
            </a:xfrm>
            <a:prstGeom prst="rect">
              <a:avLst/>
            </a:prstGeom>
          </p:spPr>
          <p:txBody>
            <a:bodyPr anchor="ctr" rtlCol="false" tIns="50800" lIns="50800" bIns="50800" rIns="50800"/>
            <a:lstStyle/>
            <a:p>
              <a:pPr algn="ctr">
                <a:lnSpc>
                  <a:spcPts val="2520"/>
                </a:lnSpc>
              </a:pPr>
            </a:p>
          </p:txBody>
        </p:sp>
      </p:grpSp>
      <p:sp>
        <p:nvSpPr>
          <p:cNvPr name="TextBox 11" id="11"/>
          <p:cNvSpPr txBox="true"/>
          <p:nvPr/>
        </p:nvSpPr>
        <p:spPr>
          <a:xfrm rot="0">
            <a:off x="1906760" y="650408"/>
            <a:ext cx="1720589" cy="587954"/>
          </a:xfrm>
          <a:prstGeom prst="rect">
            <a:avLst/>
          </a:prstGeom>
        </p:spPr>
        <p:txBody>
          <a:bodyPr anchor="t" rtlCol="false" tIns="0" lIns="0" bIns="0" rIns="0">
            <a:spAutoFit/>
          </a:bodyPr>
          <a:lstStyle/>
          <a:p>
            <a:pPr algn="l">
              <a:lnSpc>
                <a:spcPts val="4868"/>
              </a:lnSpc>
            </a:pPr>
            <a:r>
              <a:rPr lang="en-US" b="true" sz="3477" spc="-163">
                <a:solidFill>
                  <a:srgbClr val="FFFFF8"/>
                </a:solidFill>
                <a:latin typeface="DM Sans Bold"/>
                <a:ea typeface="DM Sans Bold"/>
                <a:cs typeface="DM Sans Bold"/>
                <a:sym typeface="DM Sans Bold"/>
              </a:rPr>
              <a:t>Salford</a:t>
            </a:r>
          </a:p>
        </p:txBody>
      </p:sp>
      <p:sp>
        <p:nvSpPr>
          <p:cNvPr name="TextBox 12" id="12"/>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October 2025</a:t>
            </a:r>
          </a:p>
        </p:txBody>
      </p:sp>
      <p:sp>
        <p:nvSpPr>
          <p:cNvPr name="TextBox 13" id="13"/>
          <p:cNvSpPr txBox="true"/>
          <p:nvPr/>
        </p:nvSpPr>
        <p:spPr>
          <a:xfrm rot="0">
            <a:off x="1390412" y="7541308"/>
            <a:ext cx="4379493"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
        <p:nvSpPr>
          <p:cNvPr name="TextBox 14" id="14"/>
          <p:cNvSpPr txBox="true"/>
          <p:nvPr/>
        </p:nvSpPr>
        <p:spPr>
          <a:xfrm rot="0">
            <a:off x="6945067" y="7541308"/>
            <a:ext cx="4379493"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
        <p:nvSpPr>
          <p:cNvPr name="TextBox 15" id="15"/>
          <p:cNvSpPr txBox="true"/>
          <p:nvPr/>
        </p:nvSpPr>
        <p:spPr>
          <a:xfrm rot="0">
            <a:off x="1166319" y="2070416"/>
            <a:ext cx="15690747" cy="2230755"/>
          </a:xfrm>
          <a:prstGeom prst="rect">
            <a:avLst/>
          </a:prstGeom>
        </p:spPr>
        <p:txBody>
          <a:bodyPr anchor="t" rtlCol="false" tIns="0" lIns="0" bIns="0" rIns="0">
            <a:spAutoFit/>
          </a:bodyPr>
          <a:lstStyle/>
          <a:p>
            <a:pPr algn="l">
              <a:lnSpc>
                <a:spcPts val="8460"/>
              </a:lnSpc>
            </a:pPr>
            <a:r>
              <a:rPr lang="en-US" sz="9000" spc="-422" b="true">
                <a:solidFill>
                  <a:srgbClr val="FFFFFF"/>
                </a:solidFill>
                <a:latin typeface="Hagrid Medium"/>
                <a:ea typeface="Hagrid Medium"/>
                <a:cs typeface="Hagrid Medium"/>
                <a:sym typeface="Hagrid Medium"/>
              </a:rPr>
              <a:t>Accomplishments </a:t>
            </a:r>
          </a:p>
          <a:p>
            <a:pPr algn="l">
              <a:lnSpc>
                <a:spcPts val="8460"/>
              </a:lnSpc>
            </a:pPr>
            <a:r>
              <a:rPr lang="en-US" sz="9000" spc="-422" b="true">
                <a:solidFill>
                  <a:srgbClr val="FFFFFF"/>
                </a:solidFill>
                <a:latin typeface="Hagrid Medium"/>
                <a:ea typeface="Hagrid Medium"/>
                <a:cs typeface="Hagrid Medium"/>
                <a:sym typeface="Hagrid Medium"/>
              </a:rPr>
              <a:t>Date</a:t>
            </a:r>
          </a:p>
        </p:txBody>
      </p:sp>
      <p:sp>
        <p:nvSpPr>
          <p:cNvPr name="TextBox 16" id="16"/>
          <p:cNvSpPr txBox="true"/>
          <p:nvPr/>
        </p:nvSpPr>
        <p:spPr>
          <a:xfrm rot="0">
            <a:off x="1390412" y="6934472"/>
            <a:ext cx="4379493"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2018</a:t>
            </a:r>
          </a:p>
        </p:txBody>
      </p:sp>
      <p:sp>
        <p:nvSpPr>
          <p:cNvPr name="TextBox 17" id="17"/>
          <p:cNvSpPr txBox="true"/>
          <p:nvPr/>
        </p:nvSpPr>
        <p:spPr>
          <a:xfrm rot="0">
            <a:off x="6945067" y="6934472"/>
            <a:ext cx="4379493"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2018</a:t>
            </a:r>
          </a:p>
        </p:txBody>
      </p:sp>
      <p:grpSp>
        <p:nvGrpSpPr>
          <p:cNvPr name="Group 18" id="18"/>
          <p:cNvGrpSpPr/>
          <p:nvPr/>
        </p:nvGrpSpPr>
        <p:grpSpPr>
          <a:xfrm rot="0">
            <a:off x="12171910" y="6495752"/>
            <a:ext cx="5026442" cy="2616146"/>
            <a:chOff x="0" y="0"/>
            <a:chExt cx="1323837" cy="689026"/>
          </a:xfrm>
        </p:grpSpPr>
        <p:sp>
          <p:nvSpPr>
            <p:cNvPr name="Freeform 19" id="19"/>
            <p:cNvSpPr/>
            <p:nvPr/>
          </p:nvSpPr>
          <p:spPr>
            <a:xfrm flipH="false" flipV="false" rot="0">
              <a:off x="0" y="0"/>
              <a:ext cx="1323837" cy="689026"/>
            </a:xfrm>
            <a:custGeom>
              <a:avLst/>
              <a:gdLst/>
              <a:ahLst/>
              <a:cxnLst/>
              <a:rect r="r" b="b" t="t" l="l"/>
              <a:pathLst>
                <a:path h="689026" w="1323837">
                  <a:moveTo>
                    <a:pt x="30805" y="0"/>
                  </a:moveTo>
                  <a:lnTo>
                    <a:pt x="1293032" y="0"/>
                  </a:lnTo>
                  <a:cubicBezTo>
                    <a:pt x="1301202" y="0"/>
                    <a:pt x="1309037" y="3245"/>
                    <a:pt x="1314814" y="9023"/>
                  </a:cubicBezTo>
                  <a:cubicBezTo>
                    <a:pt x="1320591" y="14800"/>
                    <a:pt x="1323837" y="22635"/>
                    <a:pt x="1323837" y="30805"/>
                  </a:cubicBezTo>
                  <a:lnTo>
                    <a:pt x="1323837" y="658221"/>
                  </a:lnTo>
                  <a:cubicBezTo>
                    <a:pt x="1323837" y="675234"/>
                    <a:pt x="1310045" y="689026"/>
                    <a:pt x="1293032" y="689026"/>
                  </a:cubicBezTo>
                  <a:lnTo>
                    <a:pt x="30805" y="689026"/>
                  </a:lnTo>
                  <a:cubicBezTo>
                    <a:pt x="13792" y="689026"/>
                    <a:pt x="0" y="675234"/>
                    <a:pt x="0" y="658221"/>
                  </a:cubicBezTo>
                  <a:lnTo>
                    <a:pt x="0" y="30805"/>
                  </a:lnTo>
                  <a:cubicBezTo>
                    <a:pt x="0" y="22635"/>
                    <a:pt x="3245" y="14800"/>
                    <a:pt x="9023" y="9023"/>
                  </a:cubicBezTo>
                  <a:cubicBezTo>
                    <a:pt x="14800" y="3245"/>
                    <a:pt x="22635" y="0"/>
                    <a:pt x="30805"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20" id="20"/>
            <p:cNvSpPr txBox="true"/>
            <p:nvPr/>
          </p:nvSpPr>
          <p:spPr>
            <a:xfrm>
              <a:off x="0" y="-19050"/>
              <a:ext cx="1323837" cy="708076"/>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2495384" y="7541308"/>
            <a:ext cx="4379493" cy="12312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a:t>
            </a:r>
          </a:p>
        </p:txBody>
      </p:sp>
      <p:sp>
        <p:nvSpPr>
          <p:cNvPr name="TextBox 22" id="22"/>
          <p:cNvSpPr txBox="true"/>
          <p:nvPr/>
        </p:nvSpPr>
        <p:spPr>
          <a:xfrm rot="0">
            <a:off x="12495384" y="6934472"/>
            <a:ext cx="4379493" cy="390525"/>
          </a:xfrm>
          <a:prstGeom prst="rect">
            <a:avLst/>
          </a:prstGeom>
        </p:spPr>
        <p:txBody>
          <a:bodyPr anchor="t" rtlCol="false" tIns="0" lIns="0" bIns="0" rIns="0">
            <a:spAutoFit/>
          </a:bodyPr>
          <a:lstStyle/>
          <a:p>
            <a:pPr algn="l">
              <a:lnSpc>
                <a:spcPts val="3120"/>
              </a:lnSpc>
            </a:pPr>
            <a:r>
              <a:rPr lang="en-US" b="true" sz="2600" spc="-122">
                <a:solidFill>
                  <a:srgbClr val="FFFFFF"/>
                </a:solidFill>
                <a:latin typeface="DM Sans Bold"/>
                <a:ea typeface="DM Sans Bold"/>
                <a:cs typeface="DM Sans Bold"/>
                <a:sym typeface="DM Sans Bold"/>
              </a:rPr>
              <a:t>2018</a:t>
            </a:r>
          </a:p>
        </p:txBody>
      </p:sp>
      <p:sp>
        <p:nvSpPr>
          <p:cNvPr name="TextBox 23" id="23"/>
          <p:cNvSpPr txBox="true"/>
          <p:nvPr/>
        </p:nvSpPr>
        <p:spPr>
          <a:xfrm rot="0">
            <a:off x="1166319" y="4510721"/>
            <a:ext cx="11240581" cy="935355"/>
          </a:xfrm>
          <a:prstGeom prst="rect">
            <a:avLst/>
          </a:prstGeom>
        </p:spPr>
        <p:txBody>
          <a:bodyPr anchor="t" rtlCol="false" tIns="0" lIns="0" bIns="0" rIns="0">
            <a:spAutoFit/>
          </a:bodyPr>
          <a:lstStyle/>
          <a:p>
            <a:pPr algn="l">
              <a:lnSpc>
                <a:spcPts val="2520"/>
              </a:lnSpc>
            </a:pPr>
            <a:r>
              <a:rPr lang="en-US" sz="1800" spc="-84">
                <a:solidFill>
                  <a:srgbClr val="FFFFFF"/>
                </a:solidFill>
                <a:latin typeface="DM Sans"/>
                <a:ea typeface="DM Sans"/>
                <a:cs typeface="DM Sans"/>
                <a:sym typeface="DM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a:t>
            </a:r>
          </a:p>
        </p:txBody>
      </p:sp>
      <p:grpSp>
        <p:nvGrpSpPr>
          <p:cNvPr name="Group 24" id="24"/>
          <p:cNvGrpSpPr/>
          <p:nvPr/>
        </p:nvGrpSpPr>
        <p:grpSpPr>
          <a:xfrm rot="0">
            <a:off x="5353720" y="6992346"/>
            <a:ext cx="274777" cy="27477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26" id="26"/>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27" id="27"/>
          <p:cNvGrpSpPr/>
          <p:nvPr/>
        </p:nvGrpSpPr>
        <p:grpSpPr>
          <a:xfrm rot="0">
            <a:off x="11049783" y="6992346"/>
            <a:ext cx="274777" cy="27477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29" id="29"/>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grpSp>
        <p:nvGrpSpPr>
          <p:cNvPr name="Group 30" id="30"/>
          <p:cNvGrpSpPr/>
          <p:nvPr/>
        </p:nvGrpSpPr>
        <p:grpSpPr>
          <a:xfrm rot="0">
            <a:off x="16719678" y="6992346"/>
            <a:ext cx="274777" cy="27477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8FF6D"/>
            </a:solidFill>
          </p:spPr>
        </p:sp>
        <p:sp>
          <p:nvSpPr>
            <p:cNvPr name="TextBox 32" id="32"/>
            <p:cNvSpPr txBox="true"/>
            <p:nvPr/>
          </p:nvSpPr>
          <p:spPr>
            <a:xfrm>
              <a:off x="76200" y="133350"/>
              <a:ext cx="660400" cy="603250"/>
            </a:xfrm>
            <a:prstGeom prst="rect">
              <a:avLst/>
            </a:prstGeom>
          </p:spPr>
          <p:txBody>
            <a:bodyPr anchor="ctr" rtlCol="false" tIns="50800" lIns="50800" bIns="50800" rIns="50800"/>
            <a:lstStyle/>
            <a:p>
              <a:pPr algn="ctr">
                <a:lnSpc>
                  <a:spcPts val="2350"/>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14448" y="6609760"/>
            <a:ext cx="11359122" cy="11359122"/>
          </a:xfrm>
          <a:custGeom>
            <a:avLst/>
            <a:gdLst/>
            <a:ahLst/>
            <a:cxnLst/>
            <a:rect r="r" b="b" t="t" l="l"/>
            <a:pathLst>
              <a:path h="11359122" w="11359122">
                <a:moveTo>
                  <a:pt x="0" y="0"/>
                </a:moveTo>
                <a:lnTo>
                  <a:pt x="11359123" y="0"/>
                </a:lnTo>
                <a:lnTo>
                  <a:pt x="11359123" y="11359122"/>
                </a:lnTo>
                <a:lnTo>
                  <a:pt x="0" y="11359122"/>
                </a:lnTo>
                <a:lnTo>
                  <a:pt x="0" y="0"/>
                </a:lnTo>
                <a:close/>
              </a:path>
            </a:pathLst>
          </a:custGeom>
          <a:blipFill>
            <a:blip r:embed="rId4">
              <a:alphaModFix amt="65000"/>
            </a:blip>
            <a:stretch>
              <a:fillRect l="0" t="0" r="0" b="0"/>
            </a:stretch>
          </a:blipFill>
        </p:spPr>
      </p:sp>
      <p:sp>
        <p:nvSpPr>
          <p:cNvPr name="Freeform 4" id="4"/>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sp>
        <p:nvSpPr>
          <p:cNvPr name="TextBox 11" id="11"/>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12" id="12"/>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TextBox 13" id="13"/>
          <p:cNvSpPr txBox="true"/>
          <p:nvPr/>
        </p:nvSpPr>
        <p:spPr>
          <a:xfrm rot="0">
            <a:off x="1420923" y="2651760"/>
            <a:ext cx="7315200" cy="147891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Бот и веб — один процесс: общая бизнес-логика, одна база, никакой рассинхронизации между интерфейсами.</a:t>
            </a:r>
          </a:p>
        </p:txBody>
      </p:sp>
      <p:sp>
        <p:nvSpPr>
          <p:cNvPr name="TextBox 15" id="15"/>
          <p:cNvSpPr txBox="true"/>
          <p:nvPr/>
        </p:nvSpPr>
        <p:spPr>
          <a:xfrm rot="0">
            <a:off x="1420923" y="1554480"/>
            <a:ext cx="7139758" cy="2230755"/>
          </a:xfrm>
          <a:prstGeom prst="rect">
            <a:avLst/>
          </a:prstGeom>
        </p:spPr>
        <p:txBody>
          <a:bodyPr anchor="t" rtlCol="false" tIns="0" lIns="0" bIns="0" rIns="0">
            <a:spAutoFit/>
          </a:bodyPr>
          <a:lstStyle/>
          <a:p>
            <a:pPr algn="l">
              <a:lnSpc>
                <a:spcPts val="8460"/>
              </a:lnSpc>
            </a:pPr>
            <a:r>
              <a:rPr lang="en-US" sz="7200" spc="-422" b="true">
                <a:solidFill>
                  <a:srgbClr val="FFFFFF"/>
                </a:solidFill>
                <a:latin typeface="Hagrid Medium"/>
                <a:ea typeface="Hagrid Medium"/>
                <a:cs typeface="Hagrid Medium"/>
                <a:sym typeface="Hagrid Medium"/>
              </a:rPr>
              <a:t>Архитектура</a:t>
            </a:r>
          </a:p>
        </p:txBody>
      </p:sp>
      <p:pic>
        <p:nvPicPr>
          <p:cNvPr id="16" name="Picture 15" descr="arch.png"/>
          <p:cNvPicPr>
            <a:picLocks noChangeAspect="1"/>
          </p:cNvPicPr>
          <p:nvPr/>
        </p:nvPicPr>
        <p:blipFill>
          <a:blip r:embed="rId8"/>
          <a:stretch>
            <a:fillRect/>
          </a:stretch>
        </p:blipFill>
        <p:spPr>
          <a:xfrm>
            <a:off x="1463040" y="3794760"/>
            <a:ext cx="15179040" cy="6722146"/>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14448" y="5845802"/>
            <a:ext cx="11359122" cy="11359122"/>
          </a:xfrm>
          <a:custGeom>
            <a:avLst/>
            <a:gdLst/>
            <a:ahLst/>
            <a:cxnLst/>
            <a:rect r="r" b="b" t="t" l="l"/>
            <a:pathLst>
              <a:path h="11359122" w="11359122">
                <a:moveTo>
                  <a:pt x="0" y="0"/>
                </a:moveTo>
                <a:lnTo>
                  <a:pt x="11359123" y="0"/>
                </a:lnTo>
                <a:lnTo>
                  <a:pt x="11359123" y="11359123"/>
                </a:lnTo>
                <a:lnTo>
                  <a:pt x="0" y="11359123"/>
                </a:lnTo>
                <a:lnTo>
                  <a:pt x="0" y="0"/>
                </a:lnTo>
                <a:close/>
              </a:path>
            </a:pathLst>
          </a:custGeom>
          <a:blipFill>
            <a:blip r:embed="rId4">
              <a:alphaModFix amt="65000"/>
            </a:blip>
            <a:stretch>
              <a:fillRect l="0" t="0" r="0" b="0"/>
            </a:stretch>
          </a:blipFill>
        </p:spPr>
      </p:sp>
      <p:sp>
        <p:nvSpPr>
          <p:cNvPr name="Freeform 4" id="4"/>
          <p:cNvSpPr/>
          <p:nvPr/>
        </p:nvSpPr>
        <p:spPr>
          <a:xfrm flipH="false" flipV="false" rot="0">
            <a:off x="6093379" y="-4428780"/>
            <a:ext cx="6101241" cy="6101241"/>
          </a:xfrm>
          <a:custGeom>
            <a:avLst/>
            <a:gdLst/>
            <a:ahLst/>
            <a:cxnLst/>
            <a:rect r="r" b="b" t="t" l="l"/>
            <a:pathLst>
              <a:path h="6101241" w="6101241">
                <a:moveTo>
                  <a:pt x="0" y="0"/>
                </a:moveTo>
                <a:lnTo>
                  <a:pt x="6101242" y="0"/>
                </a:lnTo>
                <a:lnTo>
                  <a:pt x="6101242" y="6101241"/>
                </a:lnTo>
                <a:lnTo>
                  <a:pt x="0" y="6101241"/>
                </a:lnTo>
                <a:lnTo>
                  <a:pt x="0" y="0"/>
                </a:lnTo>
                <a:close/>
              </a:path>
            </a:pathLst>
          </a:custGeom>
          <a:blipFill>
            <a:blip r:embed="rId5">
              <a:alphaModFix amt="65000"/>
            </a:blip>
            <a:stretch>
              <a:fillRect l="0" t="0" r="0" b="0"/>
            </a:stretch>
          </a:blipFill>
        </p:spPr>
      </p:sp>
      <p:grpSp>
        <p:nvGrpSpPr>
          <p:cNvPr name="Group 5" id="5"/>
          <p:cNvGrpSpPr/>
          <p:nvPr/>
        </p:nvGrpSpPr>
        <p:grpSpPr>
          <a:xfrm rot="0">
            <a:off x="6868067" y="5536159"/>
            <a:ext cx="3293574" cy="3347868"/>
            <a:chOff x="0" y="0"/>
            <a:chExt cx="867443" cy="881743"/>
          </a:xfrm>
        </p:grpSpPr>
        <p:sp>
          <p:nvSpPr>
            <p:cNvPr name="Freeform 6" id="6"/>
            <p:cNvSpPr/>
            <p:nvPr/>
          </p:nvSpPr>
          <p:spPr>
            <a:xfrm flipH="false" flipV="false" rot="0">
              <a:off x="0" y="0"/>
              <a:ext cx="867443" cy="881743"/>
            </a:xfrm>
            <a:custGeom>
              <a:avLst/>
              <a:gdLst/>
              <a:ahLst/>
              <a:cxnLst/>
              <a:rect r="r" b="b" t="t" l="l"/>
              <a:pathLst>
                <a:path h="881743" w="867443">
                  <a:moveTo>
                    <a:pt x="47012" y="0"/>
                  </a:moveTo>
                  <a:lnTo>
                    <a:pt x="820431" y="0"/>
                  </a:lnTo>
                  <a:cubicBezTo>
                    <a:pt x="846395" y="0"/>
                    <a:pt x="867443" y="21048"/>
                    <a:pt x="867443" y="47012"/>
                  </a:cubicBezTo>
                  <a:lnTo>
                    <a:pt x="867443" y="834731"/>
                  </a:lnTo>
                  <a:cubicBezTo>
                    <a:pt x="867443" y="860695"/>
                    <a:pt x="846395" y="881743"/>
                    <a:pt x="820431" y="881743"/>
                  </a:cubicBezTo>
                  <a:lnTo>
                    <a:pt x="47012" y="881743"/>
                  </a:lnTo>
                  <a:cubicBezTo>
                    <a:pt x="21048" y="881743"/>
                    <a:pt x="0" y="860695"/>
                    <a:pt x="0" y="834731"/>
                  </a:cubicBezTo>
                  <a:lnTo>
                    <a:pt x="0" y="47012"/>
                  </a:lnTo>
                  <a:cubicBezTo>
                    <a:pt x="0" y="21048"/>
                    <a:pt x="21048" y="0"/>
                    <a:pt x="47012"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7" id="7"/>
            <p:cNvSpPr txBox="true"/>
            <p:nvPr/>
          </p:nvSpPr>
          <p:spPr>
            <a:xfrm>
              <a:off x="0" y="-19050"/>
              <a:ext cx="867443" cy="900793"/>
            </a:xfrm>
            <a:prstGeom prst="rect">
              <a:avLst/>
            </a:prstGeom>
          </p:spPr>
          <p:txBody>
            <a:bodyPr anchor="ctr" rtlCol="false" tIns="50800" lIns="50800" bIns="50800" rIns="50800"/>
            <a:lstStyle/>
            <a:p>
              <a:pPr algn="ctr">
                <a:lnSpc>
                  <a:spcPts val="2520"/>
                </a:lnSpc>
              </a:pPr>
            </a:p>
          </p:txBody>
        </p:sp>
      </p:grpSp>
      <p:grpSp>
        <p:nvGrpSpPr>
          <p:cNvPr name="Group 8" id="8"/>
          <p:cNvGrpSpPr/>
          <p:nvPr/>
        </p:nvGrpSpPr>
        <p:grpSpPr>
          <a:xfrm rot="0">
            <a:off x="10471936" y="5536159"/>
            <a:ext cx="3293574" cy="3347868"/>
            <a:chOff x="0" y="0"/>
            <a:chExt cx="867443" cy="881743"/>
          </a:xfrm>
        </p:grpSpPr>
        <p:sp>
          <p:nvSpPr>
            <p:cNvPr name="Freeform 9" id="9"/>
            <p:cNvSpPr/>
            <p:nvPr/>
          </p:nvSpPr>
          <p:spPr>
            <a:xfrm flipH="false" flipV="false" rot="0">
              <a:off x="0" y="0"/>
              <a:ext cx="867443" cy="881743"/>
            </a:xfrm>
            <a:custGeom>
              <a:avLst/>
              <a:gdLst/>
              <a:ahLst/>
              <a:cxnLst/>
              <a:rect r="r" b="b" t="t" l="l"/>
              <a:pathLst>
                <a:path h="881743" w="867443">
                  <a:moveTo>
                    <a:pt x="47012" y="0"/>
                  </a:moveTo>
                  <a:lnTo>
                    <a:pt x="820431" y="0"/>
                  </a:lnTo>
                  <a:cubicBezTo>
                    <a:pt x="846395" y="0"/>
                    <a:pt x="867443" y="21048"/>
                    <a:pt x="867443" y="47012"/>
                  </a:cubicBezTo>
                  <a:lnTo>
                    <a:pt x="867443" y="834731"/>
                  </a:lnTo>
                  <a:cubicBezTo>
                    <a:pt x="867443" y="860695"/>
                    <a:pt x="846395" y="881743"/>
                    <a:pt x="820431" y="881743"/>
                  </a:cubicBezTo>
                  <a:lnTo>
                    <a:pt x="47012" y="881743"/>
                  </a:lnTo>
                  <a:cubicBezTo>
                    <a:pt x="21048" y="881743"/>
                    <a:pt x="0" y="860695"/>
                    <a:pt x="0" y="834731"/>
                  </a:cubicBezTo>
                  <a:lnTo>
                    <a:pt x="0" y="47012"/>
                  </a:lnTo>
                  <a:cubicBezTo>
                    <a:pt x="0" y="21048"/>
                    <a:pt x="21048" y="0"/>
                    <a:pt x="47012"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10" id="10"/>
            <p:cNvSpPr txBox="true"/>
            <p:nvPr/>
          </p:nvSpPr>
          <p:spPr>
            <a:xfrm>
              <a:off x="0" y="-19050"/>
              <a:ext cx="867443" cy="900793"/>
            </a:xfrm>
            <a:prstGeom prst="rect">
              <a:avLst/>
            </a:prstGeom>
          </p:spPr>
          <p:txBody>
            <a:bodyPr anchor="ctr" rtlCol="false" tIns="50800" lIns="50800" bIns="50800" rIns="50800"/>
            <a:lstStyle/>
            <a:p>
              <a:pPr algn="ctr">
                <a:lnSpc>
                  <a:spcPts val="2520"/>
                </a:lnSpc>
              </a:pPr>
            </a:p>
          </p:txBody>
        </p:sp>
      </p:grpSp>
      <p:grpSp>
        <p:nvGrpSpPr>
          <p:cNvPr name="Group 15" id="15"/>
          <p:cNvGrpSpPr/>
          <p:nvPr/>
        </p:nvGrpSpPr>
        <p:grpSpPr>
          <a:xfrm rot="0">
            <a:off x="14075804" y="5536159"/>
            <a:ext cx="3293574" cy="3347868"/>
            <a:chOff x="0" y="0"/>
            <a:chExt cx="867443" cy="881743"/>
          </a:xfrm>
        </p:grpSpPr>
        <p:sp>
          <p:nvSpPr>
            <p:cNvPr name="Freeform 16" id="16"/>
            <p:cNvSpPr/>
            <p:nvPr/>
          </p:nvSpPr>
          <p:spPr>
            <a:xfrm flipH="false" flipV="false" rot="0">
              <a:off x="0" y="0"/>
              <a:ext cx="867443" cy="881743"/>
            </a:xfrm>
            <a:custGeom>
              <a:avLst/>
              <a:gdLst/>
              <a:ahLst/>
              <a:cxnLst/>
              <a:rect r="r" b="b" t="t" l="l"/>
              <a:pathLst>
                <a:path h="881743" w="867443">
                  <a:moveTo>
                    <a:pt x="47012" y="0"/>
                  </a:moveTo>
                  <a:lnTo>
                    <a:pt x="820431" y="0"/>
                  </a:lnTo>
                  <a:cubicBezTo>
                    <a:pt x="846395" y="0"/>
                    <a:pt x="867443" y="21048"/>
                    <a:pt x="867443" y="47012"/>
                  </a:cubicBezTo>
                  <a:lnTo>
                    <a:pt x="867443" y="834731"/>
                  </a:lnTo>
                  <a:cubicBezTo>
                    <a:pt x="867443" y="860695"/>
                    <a:pt x="846395" y="881743"/>
                    <a:pt x="820431" y="881743"/>
                  </a:cubicBezTo>
                  <a:lnTo>
                    <a:pt x="47012" y="881743"/>
                  </a:lnTo>
                  <a:cubicBezTo>
                    <a:pt x="21048" y="881743"/>
                    <a:pt x="0" y="860695"/>
                    <a:pt x="0" y="834731"/>
                  </a:cubicBezTo>
                  <a:lnTo>
                    <a:pt x="0" y="47012"/>
                  </a:lnTo>
                  <a:cubicBezTo>
                    <a:pt x="0" y="21048"/>
                    <a:pt x="21048" y="0"/>
                    <a:pt x="47012"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sq">
              <a:gradFill>
                <a:gsLst>
                  <a:gs pos="0">
                    <a:srgbClr val="FFFFF8">
                      <a:alpha val="100000"/>
                    </a:srgbClr>
                  </a:gs>
                  <a:gs pos="100000">
                    <a:srgbClr val="FFFFF8">
                      <a:alpha val="0"/>
                    </a:srgbClr>
                  </a:gs>
                </a:gsLst>
                <a:lin ang="2700000"/>
              </a:gradFill>
              <a:prstDash val="solid"/>
              <a:miter/>
            </a:ln>
          </p:spPr>
        </p:sp>
        <p:sp>
          <p:nvSpPr>
            <p:cNvPr name="TextBox 17" id="17"/>
            <p:cNvSpPr txBox="true"/>
            <p:nvPr/>
          </p:nvSpPr>
          <p:spPr>
            <a:xfrm>
              <a:off x="0" y="-19050"/>
              <a:ext cx="867443" cy="900793"/>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21" id="21"/>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TextBox 22" id="22"/>
          <p:cNvSpPr txBox="true"/>
          <p:nvPr/>
        </p:nvSpPr>
        <p:spPr>
          <a:xfrm rot="0">
            <a:off x="1420923" y="6309360"/>
            <a:ext cx="4937760" cy="1726565"/>
          </a:xfrm>
          <a:prstGeom prst="rect">
            <a:avLst/>
          </a:prstGeom>
        </p:spPr>
        <p:txBody>
          <a:bodyPr anchor="t" rtlCol="false" tIns="0" lIns="0" bIns="0" rIns="0">
            <a:spAutoFit/>
          </a:bodyPr>
          <a:lstStyle/>
          <a:p>
            <a:pPr algn="l">
              <a:lnSpc>
                <a:spcPts val="1960"/>
              </a:lnSpc>
            </a:pPr>
            <a:r>
              <a:rPr lang="en-US" sz="1400" spc="-65">
                <a:solidFill>
                  <a:srgbClr val="FFFFFF"/>
                </a:solidFill>
                <a:latin typeface="DM Sans"/>
                <a:ea typeface="DM Sans"/>
                <a:cs typeface="DM Sans"/>
                <a:sym typeface="DM Sans"/>
              </a:rPr>
              <a:t>83 коммита за 4 дня. История открыта — вклад каждого виден в Git.
yaskorinov · sk4y3z · 67sanechka67 · Imirukko · diagnezzz · lazexx</a:t>
            </a:r>
          </a:p>
        </p:txBody>
      </p:sp>
      <p:sp>
        <p:nvSpPr>
          <p:cNvPr name="TextBox 23" id="23"/>
          <p:cNvSpPr txBox="true"/>
          <p:nvPr/>
        </p:nvSpPr>
        <p:spPr>
          <a:xfrm rot="0">
            <a:off x="1420923" y="2132372"/>
            <a:ext cx="5705252" cy="3307080"/>
          </a:xfrm>
          <a:prstGeom prst="rect">
            <a:avLst/>
          </a:prstGeom>
        </p:spPr>
        <p:txBody>
          <a:bodyPr anchor="t" rtlCol="false" tIns="0" lIns="0" bIns="0" rIns="0">
            <a:spAutoFit/>
          </a:bodyPr>
          <a:lstStyle/>
          <a:p>
            <a:pPr algn="l">
              <a:lnSpc>
                <a:spcPts val="8460"/>
              </a:lnSpc>
            </a:pPr>
            <a:r>
              <a:rPr lang="en-US" sz="8400" spc="-422" b="true">
                <a:solidFill>
                  <a:srgbClr val="FFFFFF"/>
                </a:solidFill>
                <a:latin typeface="Hagrid Medium"/>
                <a:ea typeface="Hagrid Medium"/>
                <a:cs typeface="Hagrid Medium"/>
                <a:sym typeface="Hagrid Medium"/>
              </a:rPr>
              <a:t>Команда</a:t>
            </a:r>
          </a:p>
        </p:txBody>
      </p:sp>
      <p:sp>
        <p:nvSpPr>
          <p:cNvPr name="TextBox 24" id="24"/>
          <p:cNvSpPr txBox="true"/>
          <p:nvPr/>
        </p:nvSpPr>
        <p:spPr>
          <a:xfrm rot="0">
            <a:off x="6864037" y="7685883"/>
            <a:ext cx="3293574" cy="390525"/>
          </a:xfrm>
          <a:prstGeom prst="rect">
            <a:avLst/>
          </a:prstGeom>
        </p:spPr>
        <p:txBody>
          <a:bodyPr anchor="t" rtlCol="false" tIns="0" lIns="0" bIns="0" rIns="0">
            <a:spAutoFit/>
          </a:bodyPr>
          <a:lstStyle/>
          <a:p>
            <a:pPr algn="ctr">
              <a:lnSpc>
                <a:spcPts val="3120"/>
              </a:lnSpc>
            </a:pPr>
            <a:r>
              <a:rPr lang="en-US" b="true" sz="2600" spc="-122">
                <a:solidFill>
                  <a:srgbClr val="FFFFFF"/>
                </a:solidFill>
                <a:latin typeface="DM Sans Bold"/>
                <a:ea typeface="DM Sans Bold"/>
                <a:cs typeface="DM Sans Bold"/>
                <a:sym typeface="DM Sans Bold"/>
              </a:rPr>
              <a:t>YASKORINOV</a:t>
            </a:r>
          </a:p>
        </p:txBody>
      </p:sp>
      <p:sp>
        <p:nvSpPr>
          <p:cNvPr name="TextBox 25" id="25"/>
          <p:cNvSpPr txBox="true"/>
          <p:nvPr/>
        </p:nvSpPr>
        <p:spPr>
          <a:xfrm rot="0">
            <a:off x="10471936" y="7669441"/>
            <a:ext cx="3293574" cy="390525"/>
          </a:xfrm>
          <a:prstGeom prst="rect">
            <a:avLst/>
          </a:prstGeom>
        </p:spPr>
        <p:txBody>
          <a:bodyPr anchor="t" rtlCol="false" tIns="0" lIns="0" bIns="0" rIns="0">
            <a:spAutoFit/>
          </a:bodyPr>
          <a:lstStyle/>
          <a:p>
            <a:pPr algn="ctr">
              <a:lnSpc>
                <a:spcPts val="3120"/>
              </a:lnSpc>
            </a:pPr>
            <a:r>
              <a:rPr lang="en-US" b="true" sz="2600" spc="-122">
                <a:solidFill>
                  <a:srgbClr val="FFFFFF"/>
                </a:solidFill>
                <a:latin typeface="DM Sans Bold"/>
                <a:ea typeface="DM Sans Bold"/>
                <a:cs typeface="DM Sans Bold"/>
                <a:sym typeface="DM Sans Bold"/>
              </a:rPr>
              <a:t>SK4Y3Z</a:t>
            </a:r>
          </a:p>
        </p:txBody>
      </p:sp>
      <p:sp>
        <p:nvSpPr>
          <p:cNvPr name="TextBox 26" id="26"/>
          <p:cNvSpPr txBox="true"/>
          <p:nvPr/>
        </p:nvSpPr>
        <p:spPr>
          <a:xfrm rot="0">
            <a:off x="6864037" y="8160094"/>
            <a:ext cx="3285513" cy="339725"/>
          </a:xfrm>
          <a:prstGeom prst="rect">
            <a:avLst/>
          </a:prstGeom>
        </p:spPr>
        <p:txBody>
          <a:bodyPr anchor="t" rtlCol="false" tIns="0" lIns="0" bIns="0" rIns="0">
            <a:spAutoFit/>
          </a:bodyPr>
          <a:lstStyle/>
          <a:p>
            <a:pPr algn="ctr">
              <a:lnSpc>
                <a:spcPts val="2799"/>
              </a:lnSpc>
            </a:pPr>
            <a:r>
              <a:rPr lang="en-US" sz="1999" spc="-93">
                <a:solidFill>
                  <a:srgbClr val="FFFFFF"/>
                </a:solidFill>
                <a:latin typeface="DM Sans"/>
                <a:ea typeface="DM Sans"/>
                <a:cs typeface="DM Sans"/>
                <a:sym typeface="DM Sans"/>
              </a:rPr>
              <a:t>— роль —</a:t>
            </a:r>
          </a:p>
        </p:txBody>
      </p:sp>
      <p:sp>
        <p:nvSpPr>
          <p:cNvPr name="TextBox 27" id="27"/>
          <p:cNvSpPr txBox="true"/>
          <p:nvPr/>
        </p:nvSpPr>
        <p:spPr>
          <a:xfrm rot="0">
            <a:off x="10471936" y="8143651"/>
            <a:ext cx="3285513" cy="339725"/>
          </a:xfrm>
          <a:prstGeom prst="rect">
            <a:avLst/>
          </a:prstGeom>
        </p:spPr>
        <p:txBody>
          <a:bodyPr anchor="t" rtlCol="false" tIns="0" lIns="0" bIns="0" rIns="0">
            <a:spAutoFit/>
          </a:bodyPr>
          <a:lstStyle/>
          <a:p>
            <a:pPr algn="ctr">
              <a:lnSpc>
                <a:spcPts val="2799"/>
              </a:lnSpc>
            </a:pPr>
            <a:r>
              <a:rPr lang="en-US" sz="1999" spc="-93">
                <a:solidFill>
                  <a:srgbClr val="FFFFFF"/>
                </a:solidFill>
                <a:latin typeface="DM Sans"/>
                <a:ea typeface="DM Sans"/>
                <a:cs typeface="DM Sans"/>
                <a:sym typeface="DM Sans"/>
              </a:rPr>
              <a:t>— роль —</a:t>
            </a:r>
          </a:p>
        </p:txBody>
      </p:sp>
      <p:sp>
        <p:nvSpPr>
          <p:cNvPr name="TextBox 28" id="28"/>
          <p:cNvSpPr txBox="true"/>
          <p:nvPr/>
        </p:nvSpPr>
        <p:spPr>
          <a:xfrm rot="0">
            <a:off x="14079835" y="7652998"/>
            <a:ext cx="3293574" cy="390525"/>
          </a:xfrm>
          <a:prstGeom prst="rect">
            <a:avLst/>
          </a:prstGeom>
        </p:spPr>
        <p:txBody>
          <a:bodyPr anchor="t" rtlCol="false" tIns="0" lIns="0" bIns="0" rIns="0">
            <a:spAutoFit/>
          </a:bodyPr>
          <a:lstStyle/>
          <a:p>
            <a:pPr algn="ctr">
              <a:lnSpc>
                <a:spcPts val="3120"/>
              </a:lnSpc>
            </a:pPr>
            <a:r>
              <a:rPr lang="en-US" b="true" sz="2600" spc="-122">
                <a:solidFill>
                  <a:srgbClr val="FFFFFF"/>
                </a:solidFill>
                <a:latin typeface="DM Sans Bold"/>
                <a:ea typeface="DM Sans Bold"/>
                <a:cs typeface="DM Sans Bold"/>
                <a:sym typeface="DM Sans Bold"/>
              </a:rPr>
              <a:t>67SANECHKA67</a:t>
            </a:r>
          </a:p>
        </p:txBody>
      </p:sp>
      <p:sp>
        <p:nvSpPr>
          <p:cNvPr name="TextBox 29" id="29"/>
          <p:cNvSpPr txBox="true"/>
          <p:nvPr/>
        </p:nvSpPr>
        <p:spPr>
          <a:xfrm rot="0">
            <a:off x="14079835" y="8127208"/>
            <a:ext cx="3285513" cy="339725"/>
          </a:xfrm>
          <a:prstGeom prst="rect">
            <a:avLst/>
          </a:prstGeom>
        </p:spPr>
        <p:txBody>
          <a:bodyPr anchor="t" rtlCol="false" tIns="0" lIns="0" bIns="0" rIns="0">
            <a:spAutoFit/>
          </a:bodyPr>
          <a:lstStyle/>
          <a:p>
            <a:pPr algn="ctr">
              <a:lnSpc>
                <a:spcPts val="2799"/>
              </a:lnSpc>
            </a:pPr>
            <a:r>
              <a:rPr lang="en-US" sz="1999" spc="-93">
                <a:solidFill>
                  <a:srgbClr val="FFFFFF"/>
                </a:solidFill>
                <a:latin typeface="DM Sans"/>
                <a:ea typeface="DM Sans"/>
                <a:cs typeface="DM Sans"/>
                <a:sym typeface="DM Sans"/>
              </a:rPr>
              <a:t>— роль —</a:t>
            </a:r>
          </a:p>
        </p:txBody>
      </p:sp>
      <p:pic>
        <p:nvPicPr>
          <p:cNvPr id="30" name="Picture 29" descr="ava-Y.png"/>
          <p:cNvPicPr>
            <a:picLocks noChangeAspect="1"/>
          </p:cNvPicPr>
          <p:nvPr/>
        </p:nvPicPr>
        <p:blipFill>
          <a:blip r:embed="rId9"/>
          <a:stretch>
            <a:fillRect/>
          </a:stretch>
        </p:blipFill>
        <p:spPr>
          <a:xfrm>
            <a:off x="7223760" y="3017520"/>
            <a:ext cx="2651760" cy="4206240"/>
          </a:xfrm>
          <a:prstGeom prst="rect">
            <a:avLst/>
          </a:prstGeom>
        </p:spPr>
      </p:pic>
      <p:pic>
        <p:nvPicPr>
          <p:cNvPr id="31" name="Picture 30" descr="ava-S.png"/>
          <p:cNvPicPr>
            <a:picLocks noChangeAspect="1"/>
          </p:cNvPicPr>
          <p:nvPr/>
        </p:nvPicPr>
        <p:blipFill>
          <a:blip r:embed="rId10"/>
          <a:stretch>
            <a:fillRect/>
          </a:stretch>
        </p:blipFill>
        <p:spPr>
          <a:xfrm>
            <a:off x="10789920" y="3017520"/>
            <a:ext cx="2651760" cy="4206240"/>
          </a:xfrm>
          <a:prstGeom prst="rect">
            <a:avLst/>
          </a:prstGeom>
        </p:spPr>
      </p:pic>
      <p:pic>
        <p:nvPicPr>
          <p:cNvPr id="32" name="Picture 31" descr="ava-A.png"/>
          <p:cNvPicPr>
            <a:picLocks noChangeAspect="1"/>
          </p:cNvPicPr>
          <p:nvPr/>
        </p:nvPicPr>
        <p:blipFill>
          <a:blip r:embed="rId11"/>
          <a:stretch>
            <a:fillRect/>
          </a:stretch>
        </p:blipFill>
        <p:spPr>
          <a:xfrm>
            <a:off x="14447520" y="3017520"/>
            <a:ext cx="2651760" cy="420624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1411"/>
        </a:solidFill>
      </p:bgPr>
    </p:bg>
    <p:spTree>
      <p:nvGrpSpPr>
        <p:cNvPr id="1" name=""/>
        <p:cNvGrpSpPr/>
        <p:nvPr/>
      </p:nvGrpSpPr>
      <p:grpSpPr>
        <a:xfrm>
          <a:off x="0" y="0"/>
          <a:ext cx="0" cy="0"/>
          <a:chOff x="0" y="0"/>
          <a:chExt cx="0" cy="0"/>
        </a:xfrm>
      </p:grpSpPr>
      <p:sp>
        <p:nvSpPr>
          <p:cNvPr name="Freeform 2" id="2"/>
          <p:cNvSpPr/>
          <p:nvPr/>
        </p:nvSpPr>
        <p:spPr>
          <a:xfrm flipH="false" flipV="false" rot="0">
            <a:off x="-7210396" y="0"/>
            <a:ext cx="9757858" cy="9757858"/>
          </a:xfrm>
          <a:custGeom>
            <a:avLst/>
            <a:gdLst/>
            <a:ahLst/>
            <a:cxnLst/>
            <a:rect r="r" b="b" t="t" l="l"/>
            <a:pathLst>
              <a:path h="9757858" w="9757858">
                <a:moveTo>
                  <a:pt x="0" y="0"/>
                </a:moveTo>
                <a:lnTo>
                  <a:pt x="9757858" y="0"/>
                </a:lnTo>
                <a:lnTo>
                  <a:pt x="9757858" y="9757858"/>
                </a:lnTo>
                <a:lnTo>
                  <a:pt x="0" y="9757858"/>
                </a:lnTo>
                <a:lnTo>
                  <a:pt x="0" y="0"/>
                </a:lnTo>
                <a:close/>
              </a:path>
            </a:pathLst>
          </a:custGeom>
          <a:blipFill>
            <a:blip r:embed="rId2">
              <a:alphaModFix amt="65000"/>
            </a:blip>
            <a:stretch>
              <a:fillRect l="0" t="0" r="0" b="0"/>
            </a:stretch>
          </a:blipFill>
        </p:spPr>
      </p:sp>
      <p:sp>
        <p:nvSpPr>
          <p:cNvPr name="Freeform 3" id="3"/>
          <p:cNvSpPr/>
          <p:nvPr/>
        </p:nvSpPr>
        <p:spPr>
          <a:xfrm flipH="false" flipV="false" rot="0">
            <a:off x="2165337" y="3308337"/>
            <a:ext cx="13957326" cy="13957326"/>
          </a:xfrm>
          <a:custGeom>
            <a:avLst/>
            <a:gdLst/>
            <a:ahLst/>
            <a:cxnLst/>
            <a:rect r="r" b="b" t="t" l="l"/>
            <a:pathLst>
              <a:path h="13957326" w="13957326">
                <a:moveTo>
                  <a:pt x="0" y="0"/>
                </a:moveTo>
                <a:lnTo>
                  <a:pt x="13957326" y="0"/>
                </a:lnTo>
                <a:lnTo>
                  <a:pt x="13957326" y="13957326"/>
                </a:lnTo>
                <a:lnTo>
                  <a:pt x="0" y="13957326"/>
                </a:lnTo>
                <a:lnTo>
                  <a:pt x="0" y="0"/>
                </a:lnTo>
                <a:close/>
              </a:path>
            </a:pathLst>
          </a:custGeom>
          <a:blipFill>
            <a:blip r:embed="rId3">
              <a:alphaModFix amt="65000"/>
            </a:blip>
            <a:stretch>
              <a:fillRect l="0" t="0" r="0" b="0"/>
            </a:stretch>
          </a:blipFill>
        </p:spPr>
      </p:sp>
      <p:sp>
        <p:nvSpPr>
          <p:cNvPr name="Freeform 4" id="4"/>
          <p:cNvSpPr/>
          <p:nvPr/>
        </p:nvSpPr>
        <p:spPr>
          <a:xfrm flipH="false" flipV="false" rot="0">
            <a:off x="13809146" y="-5134894"/>
            <a:ext cx="9757858" cy="9757858"/>
          </a:xfrm>
          <a:custGeom>
            <a:avLst/>
            <a:gdLst/>
            <a:ahLst/>
            <a:cxnLst/>
            <a:rect r="r" b="b" t="t" l="l"/>
            <a:pathLst>
              <a:path h="9757858" w="9757858">
                <a:moveTo>
                  <a:pt x="0" y="0"/>
                </a:moveTo>
                <a:lnTo>
                  <a:pt x="9757858" y="0"/>
                </a:lnTo>
                <a:lnTo>
                  <a:pt x="9757858" y="9757858"/>
                </a:lnTo>
                <a:lnTo>
                  <a:pt x="0" y="9757858"/>
                </a:lnTo>
                <a:lnTo>
                  <a:pt x="0" y="0"/>
                </a:lnTo>
                <a:close/>
              </a:path>
            </a:pathLst>
          </a:custGeom>
          <a:blipFill>
            <a:blip r:embed="rId2">
              <a:alphaModFix amt="65000"/>
            </a:blip>
            <a:stretch>
              <a:fillRect l="0" t="0" r="0" b="0"/>
            </a:stretch>
          </a:blipFill>
        </p:spPr>
      </p:sp>
      <p:sp>
        <p:nvSpPr>
          <p:cNvPr name="Freeform 5" id="5"/>
          <p:cNvSpPr/>
          <p:nvPr/>
        </p:nvSpPr>
        <p:spPr>
          <a:xfrm flipH="false" flipV="false" rot="0">
            <a:off x="1166319" y="763422"/>
            <a:ext cx="509208" cy="428599"/>
          </a:xfrm>
          <a:custGeom>
            <a:avLst/>
            <a:gdLst/>
            <a:ahLst/>
            <a:cxnLst/>
            <a:rect r="r" b="b" t="t" l="l"/>
            <a:pathLst>
              <a:path h="428599" w="509208">
                <a:moveTo>
                  <a:pt x="0" y="0"/>
                </a:moveTo>
                <a:lnTo>
                  <a:pt x="509207" y="0"/>
                </a:lnTo>
                <a:lnTo>
                  <a:pt x="509207" y="428600"/>
                </a:lnTo>
                <a:lnTo>
                  <a:pt x="0" y="428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934642" y="7278299"/>
            <a:ext cx="4131973" cy="1064047"/>
            <a:chOff x="0" y="0"/>
            <a:chExt cx="1088256" cy="280243"/>
          </a:xfrm>
        </p:grpSpPr>
        <p:sp>
          <p:nvSpPr>
            <p:cNvPr name="Freeform 8" id="8"/>
            <p:cNvSpPr/>
            <p:nvPr/>
          </p:nvSpPr>
          <p:spPr>
            <a:xfrm flipH="false" flipV="false" rot="0">
              <a:off x="0" y="0"/>
              <a:ext cx="1088256" cy="280243"/>
            </a:xfrm>
            <a:custGeom>
              <a:avLst/>
              <a:gdLst/>
              <a:ahLst/>
              <a:cxnLst/>
              <a:rect r="r" b="b" t="t" l="l"/>
              <a:pathLst>
                <a:path h="280243" w="1088256">
                  <a:moveTo>
                    <a:pt x="140121" y="0"/>
                  </a:moveTo>
                  <a:lnTo>
                    <a:pt x="948135" y="0"/>
                  </a:lnTo>
                  <a:cubicBezTo>
                    <a:pt x="1025522" y="0"/>
                    <a:pt x="1088256" y="62735"/>
                    <a:pt x="1088256" y="140121"/>
                  </a:cubicBezTo>
                  <a:lnTo>
                    <a:pt x="1088256" y="140121"/>
                  </a:lnTo>
                  <a:cubicBezTo>
                    <a:pt x="1088256" y="217508"/>
                    <a:pt x="1025522" y="280243"/>
                    <a:pt x="948135" y="280243"/>
                  </a:cubicBezTo>
                  <a:lnTo>
                    <a:pt x="140121" y="280243"/>
                  </a:lnTo>
                  <a:cubicBezTo>
                    <a:pt x="62735" y="280243"/>
                    <a:pt x="0" y="217508"/>
                    <a:pt x="0" y="140121"/>
                  </a:cubicBezTo>
                  <a:lnTo>
                    <a:pt x="0" y="140121"/>
                  </a:lnTo>
                  <a:cubicBezTo>
                    <a:pt x="0" y="62735"/>
                    <a:pt x="62735" y="0"/>
                    <a:pt x="140121" y="0"/>
                  </a:cubicBezTo>
                  <a:close/>
                </a:path>
              </a:pathLst>
            </a:custGeom>
            <a:gradFill rotWithShape="true">
              <a:gsLst>
                <a:gs pos="0">
                  <a:srgbClr val="FFFFFF">
                    <a:alpha val="0"/>
                  </a:srgbClr>
                </a:gs>
                <a:gs pos="50000">
                  <a:srgbClr val="FFFFFF">
                    <a:alpha val="10000"/>
                  </a:srgbClr>
                </a:gs>
                <a:gs pos="100000">
                  <a:srgbClr val="FFFFFF">
                    <a:alpha val="0"/>
                  </a:srgbClr>
                </a:gs>
              </a:gsLst>
              <a:lin ang="2700000"/>
            </a:gradFill>
            <a:ln w="19050" cap="rnd">
              <a:gradFill>
                <a:gsLst>
                  <a:gs pos="0">
                    <a:srgbClr val="FFFFF8">
                      <a:alpha val="100000"/>
                    </a:srgbClr>
                  </a:gs>
                  <a:gs pos="100000">
                    <a:srgbClr val="FFFFF8">
                      <a:alpha val="0"/>
                    </a:srgbClr>
                  </a:gs>
                </a:gsLst>
                <a:lin ang="2700000"/>
              </a:gradFill>
              <a:prstDash val="solid"/>
              <a:round/>
            </a:ln>
          </p:spPr>
        </p:sp>
        <p:sp>
          <p:nvSpPr>
            <p:cNvPr name="TextBox 9" id="9"/>
            <p:cNvSpPr txBox="true"/>
            <p:nvPr/>
          </p:nvSpPr>
          <p:spPr>
            <a:xfrm>
              <a:off x="0" y="-19050"/>
              <a:ext cx="1088256" cy="299293"/>
            </a:xfrm>
            <a:prstGeom prst="rect">
              <a:avLst/>
            </a:prstGeom>
          </p:spPr>
          <p:txBody>
            <a:bodyPr anchor="ctr" rtlCol="false" tIns="50800" lIns="50800" bIns="50800" rIns="50800"/>
            <a:lstStyle/>
            <a:p>
              <a:pPr algn="ctr">
                <a:lnSpc>
                  <a:spcPts val="2520"/>
                </a:lnSpc>
              </a:pPr>
            </a:p>
          </p:txBody>
        </p:sp>
      </p:grpSp>
      <p:sp>
        <p:nvSpPr>
          <p:cNvPr name="TextBox 15" id="15"/>
          <p:cNvSpPr txBox="true"/>
          <p:nvPr/>
        </p:nvSpPr>
        <p:spPr>
          <a:xfrm rot="0">
            <a:off x="1906760" y="650408"/>
            <a:ext cx="5486400" cy="587954"/>
          </a:xfrm>
          <a:prstGeom prst="rect">
            <a:avLst/>
          </a:prstGeom>
        </p:spPr>
        <p:txBody>
          <a:bodyPr anchor="t" rtlCol="false" tIns="0" lIns="0" bIns="0" rIns="0">
            <a:spAutoFit/>
          </a:bodyPr>
          <a:lstStyle/>
          <a:p>
            <a:pPr algn="l">
              <a:lnSpc>
                <a:spcPts val="4868"/>
              </a:lnSpc>
            </a:pPr>
            <a:r>
              <a:rPr lang="en-US" b="true" sz="2000" spc="-163">
                <a:solidFill>
                  <a:srgbClr val="FFFFF8"/>
                </a:solidFill>
                <a:latin typeface="DM Sans Bold"/>
                <a:ea typeface="DM Sans Bold"/>
                <a:cs typeface="DM Sans Bold"/>
                <a:sym typeface="DM Sans Bold"/>
              </a:rPr>
              <a:t>НАЗВАНИЕ КОМАНДЫ</a:t>
            </a:r>
          </a:p>
        </p:txBody>
      </p:sp>
      <p:sp>
        <p:nvSpPr>
          <p:cNvPr name="TextBox 19" id="19"/>
          <p:cNvSpPr txBox="true"/>
          <p:nvPr/>
        </p:nvSpPr>
        <p:spPr>
          <a:xfrm rot="0">
            <a:off x="13809146" y="860108"/>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Сентябрь 2026</a:t>
            </a:r>
          </a:p>
        </p:txBody>
      </p:sp>
      <p:sp>
        <p:nvSpPr>
          <p:cNvPr name="AutoShape 20" id="20"/>
          <p:cNvSpPr/>
          <p:nvPr/>
        </p:nvSpPr>
        <p:spPr>
          <a:xfrm flipV="true">
            <a:off x="5066615" y="7090441"/>
            <a:ext cx="937723" cy="541395"/>
          </a:xfrm>
          <a:prstGeom prst="line">
            <a:avLst/>
          </a:prstGeom>
          <a:ln cap="flat" w="28575">
            <a:gradFill>
              <a:gsLst>
                <a:gs pos="0">
                  <a:srgbClr val="FFFFF8">
                    <a:alpha val="0"/>
                  </a:srgbClr>
                </a:gs>
                <a:gs pos="100000">
                  <a:srgbClr val="FFFFF8">
                    <a:alpha val="100000"/>
                  </a:srgbClr>
                </a:gs>
              </a:gsLst>
              <a:lin ang="2700000"/>
            </a:gradFill>
            <a:prstDash val="solid"/>
            <a:headEnd type="none" len="sm" w="sm"/>
            <a:tailEnd type="oval" len="lg" w="lg"/>
          </a:ln>
        </p:spPr>
      </p:sp>
      <p:sp>
        <p:nvSpPr>
          <p:cNvPr name="Freeform 21" id="21"/>
          <p:cNvSpPr/>
          <p:nvPr/>
        </p:nvSpPr>
        <p:spPr>
          <a:xfrm flipH="false" flipV="false" rot="0">
            <a:off x="5306949" y="2699707"/>
            <a:ext cx="7674102" cy="8229600"/>
          </a:xfrm>
          <a:custGeom>
            <a:avLst/>
            <a:gdLst/>
            <a:ahLst/>
            <a:cxnLst/>
            <a:rect r="r" b="b" t="t" l="l"/>
            <a:pathLst>
              <a:path h="8229600" w="7674102">
                <a:moveTo>
                  <a:pt x="0" y="0"/>
                </a:moveTo>
                <a:lnTo>
                  <a:pt x="7674102" y="0"/>
                </a:lnTo>
                <a:lnTo>
                  <a:pt x="7674102" y="8229600"/>
                </a:lnTo>
                <a:lnTo>
                  <a:pt x="0" y="8229600"/>
                </a:lnTo>
                <a:lnTo>
                  <a:pt x="0" y="0"/>
                </a:lnTo>
                <a:close/>
              </a:path>
            </a:pathLst>
          </a:custGeom>
          <a:blipFill>
            <a:blip r:embed="rId6"/>
            <a:stretch>
              <a:fillRect l="0" t="0" r="0" b="0"/>
            </a:stretch>
          </a:blipFill>
        </p:spPr>
      </p:sp>
      <p:sp>
        <p:nvSpPr>
          <p:cNvPr name="TextBox 6" id="6"/>
          <p:cNvSpPr txBox="true"/>
          <p:nvPr/>
        </p:nvSpPr>
        <p:spPr>
          <a:xfrm rot="0">
            <a:off x="553578" y="1463040"/>
            <a:ext cx="17180844" cy="2011680"/>
          </a:xfrm>
          <a:prstGeom prst="rect">
            <a:avLst/>
          </a:prstGeom>
        </p:spPr>
        <p:txBody>
          <a:bodyPr anchor="t" rtlCol="false" tIns="0" lIns="0" bIns="0" rIns="0">
            <a:spAutoFit/>
          </a:bodyPr>
          <a:lstStyle/>
          <a:p>
            <a:pPr algn="ctr">
              <a:lnSpc>
                <a:spcPts val="17289"/>
              </a:lnSpc>
            </a:pPr>
            <a:r>
              <a:rPr lang="en-US" b="true" sz="13000">
                <a:solidFill>
                  <a:srgbClr val="FFFFF8"/>
                </a:solidFill>
                <a:latin typeface="Hagrid Medium"/>
                <a:ea typeface="Hagrid Medium"/>
                <a:cs typeface="Hagrid Medium"/>
                <a:sym typeface="Hagrid Medium"/>
              </a:rPr>
              <a:t>СПАСИБО</a:t>
            </a:r>
          </a:p>
        </p:txBody>
      </p:sp>
      <p:sp>
        <p:nvSpPr>
          <p:cNvPr name="TextBox 13" id="13"/>
          <p:cNvSpPr txBox="true"/>
          <p:nvPr/>
        </p:nvSpPr>
        <p:spPr>
          <a:xfrm rot="0">
            <a:off x="1434781" y="7565848"/>
            <a:ext cx="6265404" cy="622300"/>
          </a:xfrm>
          <a:prstGeom prst="rect">
            <a:avLst/>
          </a:prstGeom>
        </p:spPr>
        <p:txBody>
          <a:bodyPr anchor="t" rtlCol="false" tIns="0" lIns="0" bIns="0" rIns="0">
            <a:spAutoFit/>
          </a:bodyPr>
          <a:lstStyle/>
          <a:p>
            <a:pPr algn="l">
              <a:lnSpc>
                <a:spcPts val="4549"/>
              </a:lnSpc>
            </a:pPr>
            <a:r>
              <a:rPr lang="en-US" sz="4999">
                <a:solidFill>
                  <a:srgbClr val="FFFFF8"/>
                </a:solidFill>
                <a:latin typeface="DM Sans"/>
                <a:ea typeface="DM Sans"/>
                <a:cs typeface="DM Sans"/>
                <a:sym typeface="DM Sans"/>
              </a:rPr>
              <a:t>Вопросы?</a:t>
            </a:r>
          </a:p>
        </p:txBody>
      </p:sp>
      <p:sp>
        <p:nvSpPr>
          <p:cNvPr name="TextBox 16" id="16"/>
          <p:cNvSpPr txBox="true"/>
          <p:nvPr/>
        </p:nvSpPr>
        <p:spPr>
          <a:xfrm rot="0">
            <a:off x="13962098" y="8729070"/>
            <a:ext cx="3450154" cy="281559"/>
          </a:xfrm>
          <a:prstGeom prst="rect">
            <a:avLst/>
          </a:prstGeom>
        </p:spPr>
        <p:txBody>
          <a:bodyPr anchor="t" rtlCol="false" tIns="0" lIns="0" bIns="0" rIns="0">
            <a:spAutoFit/>
          </a:bodyPr>
          <a:lstStyle/>
          <a:p>
            <a:pPr algn="r">
              <a:lnSpc>
                <a:spcPts val="2268"/>
              </a:lnSpc>
            </a:pPr>
            <a:r>
              <a:rPr lang="en-US" b="true" sz="1800" spc="-100">
                <a:solidFill>
                  <a:srgbClr val="FFFFF8"/>
                </a:solidFill>
                <a:latin typeface="DM Sans Bold"/>
                <a:ea typeface="DM Sans Bold"/>
                <a:cs typeface="DM Sans Bold"/>
                <a:sym typeface="DM Sans Bold"/>
              </a:rPr>
              <a:t>Кейс 2 · Сбер</a:t>
            </a:r>
          </a:p>
        </p:txBody>
      </p:sp>
      <p:sp>
        <p:nvSpPr>
          <p:cNvPr name="TextBox 17" id="17"/>
          <p:cNvSpPr txBox="true"/>
          <p:nvPr/>
        </p:nvSpPr>
        <p:spPr>
          <a:xfrm rot="0">
            <a:off x="13962098" y="9065163"/>
            <a:ext cx="3450154" cy="318135"/>
          </a:xfrm>
          <a:prstGeom prst="rect">
            <a:avLst/>
          </a:prstGeom>
        </p:spPr>
        <p:txBody>
          <a:bodyPr anchor="t" rtlCol="false" tIns="0" lIns="0" bIns="0" rIns="0">
            <a:spAutoFit/>
          </a:bodyPr>
          <a:lstStyle/>
          <a:p>
            <a:pPr algn="r">
              <a:lnSpc>
                <a:spcPts val="2520"/>
              </a:lnSpc>
            </a:pPr>
            <a:r>
              <a:rPr lang="en-US" sz="2000" spc="-112">
                <a:solidFill>
                  <a:srgbClr val="FFFFF8"/>
                </a:solidFill>
                <a:latin typeface="Hagrid"/>
                <a:ea typeface="Hagrid"/>
                <a:cs typeface="Hagrid"/>
                <a:sym typeface="Hagrid"/>
              </a:rPr>
              <a:t>AI-ассистент общих расходов</a:t>
            </a:r>
          </a:p>
        </p:txBody>
      </p:sp>
      <p:sp>
        <p:nvSpPr>
          <p:cNvPr name="TextBox 18" id="18"/>
          <p:cNvSpPr txBox="true"/>
          <p:nvPr/>
        </p:nvSpPr>
        <p:spPr>
          <a:xfrm rot="0">
            <a:off x="1028700" y="5508496"/>
            <a:ext cx="3450154" cy="318135"/>
          </a:xfrm>
          <a:prstGeom prst="rect">
            <a:avLst/>
          </a:prstGeom>
        </p:spPr>
        <p:txBody>
          <a:bodyPr anchor="t" rtlCol="false" tIns="0" lIns="0" bIns="0" rIns="0">
            <a:spAutoFit/>
          </a:bodyPr>
          <a:lstStyle/>
          <a:p>
            <a:pPr algn="l">
              <a:lnSpc>
                <a:spcPts val="2520"/>
              </a:lnSpc>
            </a:pPr>
            <a:r>
              <a:rPr lang="en-US" sz="1600" spc="-112">
                <a:solidFill>
                  <a:srgbClr val="FFFFF8"/>
                </a:solidFill>
                <a:latin typeface="Hagrid"/>
                <a:ea typeface="Hagrid"/>
                <a:cs typeface="Hagrid"/>
                <a:sym typeface="Hagrid"/>
              </a:rPr>
              <a:t>github.com/yaskorinov/budget-management-system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DAHUgox1zXk</dc:identifier>
  <dcterms:modified xsi:type="dcterms:W3CDTF">2011-08-01T06:04:30Z</dcterms:modified>
  <cp:revision>1</cp:revision>
  <dc:title>hakaton</dc:title>
</cp:coreProperties>
</file>